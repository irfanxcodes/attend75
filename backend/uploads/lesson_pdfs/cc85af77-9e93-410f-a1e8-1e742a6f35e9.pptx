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6" r:id="rId6"/>
    <p:sldId id="260" r:id="rId7"/>
    <p:sldId id="261" r:id="rId8"/>
    <p:sldId id="262" r:id="rId9"/>
    <p:sldId id="263" r:id="rId10"/>
    <p:sldId id="264" r:id="rId11"/>
    <p:sldId id="265" r:id="rId12"/>
    <p:sldId id="267" r:id="rId13"/>
    <p:sldId id="276" r:id="rId14"/>
    <p:sldId id="268" r:id="rId15"/>
    <p:sldId id="269" r:id="rId16"/>
    <p:sldId id="270"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15-Jul-26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15-Jul-26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15-Jul-26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15-Jul-26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15-Jul-26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15-Jul-26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15-Jul-26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15-Jul-26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15-Jul-26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15-Jul-26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15-Jul-26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15-Jul-26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b="1" dirty="0" smtClean="0">
                <a:latin typeface="Times New Roman" pitchFamily="18" charset="0"/>
                <a:cs typeface="Times New Roman" pitchFamily="18" charset="0"/>
              </a:rPr>
              <a:t>Introduction to Management Accounting</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p:txBody>
          <a:bodyPr/>
          <a:lstStyle/>
          <a:p>
            <a:endParaRPr lang="en-IN" dirty="0" smtClean="0"/>
          </a:p>
          <a:p>
            <a:endParaRPr lang="en-IN"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normAutofit fontScale="90000"/>
          </a:bodyPr>
          <a:lstStyle/>
          <a:p>
            <a:r>
              <a:rPr lang="en-IN" dirty="0" smtClean="0">
                <a:latin typeface="Times New Roman" pitchFamily="18" charset="0"/>
                <a:cs typeface="Times New Roman" pitchFamily="18" charset="0"/>
              </a:rPr>
              <a:t>Definitions</a:t>
            </a:r>
            <a:endParaRPr lang="en-US" dirty="0">
              <a:latin typeface="Times New Roman" pitchFamily="18" charset="0"/>
              <a:cs typeface="Times New Roman" pitchFamily="18" charset="0"/>
            </a:endParaRPr>
          </a:p>
        </p:txBody>
      </p:sp>
      <p:sp>
        <p:nvSpPr>
          <p:cNvPr id="4" name="Content Placeholder 2">
            <a:extLst>
              <a:ext uri="{FF2B5EF4-FFF2-40B4-BE49-F238E27FC236}">
                <a16:creationId xmlns="" xmlns:a16="http://schemas.microsoft.com/office/drawing/2014/main" id="{89419757-68E4-A5F7-616C-AA65E0C734F0}"/>
              </a:ext>
            </a:extLst>
          </p:cNvPr>
          <p:cNvSpPr>
            <a:spLocks noGrp="1"/>
          </p:cNvSpPr>
          <p:nvPr>
            <p:ph idx="1"/>
          </p:nvPr>
        </p:nvSpPr>
        <p:spPr>
          <a:xfrm>
            <a:off x="228600" y="762000"/>
            <a:ext cx="8610600" cy="5867400"/>
          </a:xfrm>
          <a:ln>
            <a:solidFill>
              <a:schemeClr val="bg1"/>
            </a:solidFill>
          </a:ln>
        </p:spPr>
        <p:style>
          <a:lnRef idx="2">
            <a:schemeClr val="dk1"/>
          </a:lnRef>
          <a:fillRef idx="1">
            <a:schemeClr val="lt1"/>
          </a:fillRef>
          <a:effectRef idx="0">
            <a:schemeClr val="dk1"/>
          </a:effectRef>
          <a:fontRef idx="minor">
            <a:schemeClr val="dk1"/>
          </a:fontRef>
        </p:style>
        <p:txBody>
          <a:bodyPr/>
          <a:lstStyle/>
          <a:p>
            <a:pPr marL="0" indent="0" algn="just">
              <a:buNone/>
            </a:pPr>
            <a:r>
              <a:rPr lang="en-IN" sz="2200" b="1" dirty="0">
                <a:latin typeface="Times New Roman" panose="02020603050405020304" pitchFamily="18" charset="0"/>
                <a:cs typeface="Times New Roman" panose="02020603050405020304" pitchFamily="18" charset="0"/>
              </a:rPr>
              <a:t>Accounting: - “</a:t>
            </a:r>
            <a:r>
              <a:rPr lang="en-IN" sz="2200" dirty="0">
                <a:latin typeface="Times New Roman" panose="02020603050405020304" pitchFamily="18" charset="0"/>
                <a:cs typeface="Times New Roman" panose="02020603050405020304" pitchFamily="18" charset="0"/>
              </a:rPr>
              <a:t>It is the language effectively employed to communicate the financial information of a business unit to various parties interested in its progress, such as </a:t>
            </a:r>
            <a:r>
              <a:rPr lang="en-IN" sz="2200" dirty="0" smtClean="0">
                <a:latin typeface="Times New Roman" panose="02020603050405020304" pitchFamily="18" charset="0"/>
                <a:cs typeface="Times New Roman" panose="02020603050405020304" pitchFamily="18" charset="0"/>
              </a:rPr>
              <a:t>proprietor, </a:t>
            </a:r>
            <a:r>
              <a:rPr lang="en-IN" sz="2200" dirty="0">
                <a:latin typeface="Times New Roman" panose="02020603050405020304" pitchFamily="18" charset="0"/>
                <a:cs typeface="Times New Roman" panose="02020603050405020304" pitchFamily="18" charset="0"/>
              </a:rPr>
              <a:t>creditor, employees, consumer, </a:t>
            </a:r>
            <a:r>
              <a:rPr lang="en-IN" sz="2200" dirty="0" smtClean="0">
                <a:latin typeface="Times New Roman" panose="02020603050405020304" pitchFamily="18" charset="0"/>
                <a:cs typeface="Times New Roman" panose="02020603050405020304" pitchFamily="18" charset="0"/>
              </a:rPr>
              <a:t>government</a:t>
            </a:r>
            <a:r>
              <a:rPr lang="en-IN" sz="2200" dirty="0">
                <a:latin typeface="Times New Roman" panose="02020603050405020304" pitchFamily="18" charset="0"/>
                <a:cs typeface="Times New Roman" panose="02020603050405020304" pitchFamily="18" charset="0"/>
              </a:rPr>
              <a:t>, debentures-holders etc</a:t>
            </a:r>
            <a:r>
              <a:rPr lang="en-IN" sz="2200" dirty="0" smtClean="0">
                <a:latin typeface="Times New Roman" panose="02020603050405020304" pitchFamily="18" charset="0"/>
                <a:cs typeface="Times New Roman" panose="02020603050405020304" pitchFamily="18" charset="0"/>
              </a:rPr>
              <a:t>.”</a:t>
            </a:r>
          </a:p>
          <a:p>
            <a:pPr marL="0" indent="0" algn="just">
              <a:buNone/>
            </a:pPr>
            <a:endParaRPr lang="en-IN" sz="2200" dirty="0" smtClean="0">
              <a:latin typeface="Times New Roman" panose="02020603050405020304" pitchFamily="18" charset="0"/>
              <a:cs typeface="Times New Roman" panose="02020603050405020304" pitchFamily="18" charset="0"/>
            </a:endParaRPr>
          </a:p>
          <a:p>
            <a:pPr marL="0" indent="0" algn="just">
              <a:buNone/>
            </a:pPr>
            <a:r>
              <a:rPr lang="en-IN" sz="2200" b="1" dirty="0" smtClean="0">
                <a:solidFill>
                  <a:schemeClr val="tx1"/>
                </a:solidFill>
                <a:latin typeface="Times New Roman" panose="02020603050405020304" pitchFamily="18" charset="0"/>
                <a:cs typeface="Times New Roman" panose="02020603050405020304" pitchFamily="18" charset="0"/>
              </a:rPr>
              <a:t>Three major fields of accounting: </a:t>
            </a:r>
          </a:p>
          <a:p>
            <a:pPr marL="457200" indent="-457200" algn="just">
              <a:buAutoNum type="arabicPeriod"/>
            </a:pPr>
            <a:r>
              <a:rPr lang="en-IN" sz="2200" b="1" i="1" dirty="0" smtClean="0">
                <a:latin typeface="Times New Roman" panose="02020603050405020304" pitchFamily="18" charset="0"/>
                <a:cs typeface="Times New Roman" panose="02020603050405020304" pitchFamily="18" charset="0"/>
              </a:rPr>
              <a:t>Financial accounting</a:t>
            </a:r>
            <a:r>
              <a:rPr lang="en-IN" sz="2200" dirty="0" smtClean="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It is the process of recording, summarizing, and reporting a company’s transactions, resulting from business operations over a period of time, through financial statements</a:t>
            </a:r>
            <a:r>
              <a:rPr lang="en-IN" sz="2200" dirty="0" smtClean="0">
                <a:latin typeface="Times New Roman" panose="02020603050405020304" pitchFamily="18" charset="0"/>
                <a:cs typeface="Times New Roman" panose="02020603050405020304" pitchFamily="18" charset="0"/>
              </a:rPr>
              <a:t> </a:t>
            </a:r>
          </a:p>
          <a:p>
            <a:pPr marL="457200" indent="-457200" algn="just">
              <a:buAutoNum type="arabicPeriod"/>
            </a:pPr>
            <a:r>
              <a:rPr lang="en-IN" sz="2200" b="1" i="1" dirty="0" smtClean="0">
                <a:latin typeface="Times New Roman" panose="02020603050405020304" pitchFamily="18" charset="0"/>
                <a:cs typeface="Times New Roman" panose="02020603050405020304" pitchFamily="18" charset="0"/>
              </a:rPr>
              <a:t>Cost accounting:</a:t>
            </a:r>
            <a:r>
              <a:rPr lang="en-IN" sz="2200" dirty="0" smtClean="0">
                <a:latin typeface="Times New Roman" panose="02020603050405020304" pitchFamily="18" charset="0"/>
                <a:cs typeface="Times New Roman" panose="02020603050405020304" pitchFamily="18" charset="0"/>
              </a:rPr>
              <a:t> A </a:t>
            </a:r>
            <a:r>
              <a:rPr lang="en-US" sz="2200" dirty="0" smtClean="0">
                <a:latin typeface="Times New Roman" panose="02020603050405020304" pitchFamily="18" charset="0"/>
                <a:cs typeface="Times New Roman" panose="02020603050405020304" pitchFamily="18" charset="0"/>
              </a:rPr>
              <a:t>branch of accounting focused on identifying, measuring, and analyzing costs associated with producing goods or services within a business for decision-making, performance evaluation, and cost control.</a:t>
            </a:r>
            <a:endParaRPr lang="en-IN" sz="2200" dirty="0" smtClean="0">
              <a:latin typeface="Times New Roman" panose="02020603050405020304" pitchFamily="18" charset="0"/>
              <a:cs typeface="Times New Roman" panose="02020603050405020304" pitchFamily="18" charset="0"/>
            </a:endParaRPr>
          </a:p>
          <a:p>
            <a:pPr marL="457200" indent="-457200" algn="just">
              <a:buAutoNum type="arabicPeriod"/>
            </a:pPr>
            <a:r>
              <a:rPr lang="en-IN" sz="2200" b="1" i="1" dirty="0" smtClean="0">
                <a:latin typeface="Times New Roman" panose="02020603050405020304" pitchFamily="18" charset="0"/>
                <a:cs typeface="Times New Roman" panose="02020603050405020304" pitchFamily="18" charset="0"/>
              </a:rPr>
              <a:t>Management accounting:</a:t>
            </a:r>
            <a:r>
              <a:rPr lang="en-IN" sz="2200" dirty="0" smtClean="0">
                <a:latin typeface="Times New Roman" panose="02020603050405020304" pitchFamily="18" charset="0"/>
                <a:cs typeface="Times New Roman" panose="02020603050405020304" pitchFamily="18" charset="0"/>
              </a:rPr>
              <a:t> The practice of identifying, measuring, analysing, interpreting and communicating to managers for the pursuit of an organization’s goal. </a:t>
            </a:r>
          </a:p>
          <a:p>
            <a:pPr marL="457200" indent="-457200" algn="just">
              <a:buAutoNum type="arabicPeriod"/>
            </a:pPr>
            <a:endParaRPr lang="en-IN" sz="2200" dirty="0" smtClean="0">
              <a:latin typeface="Times New Roman" panose="02020603050405020304" pitchFamily="18" charset="0"/>
              <a:cs typeface="Times New Roman" panose="02020603050405020304" pitchFamily="18" charset="0"/>
            </a:endParaRPr>
          </a:p>
          <a:p>
            <a:pPr marL="0" indent="0" algn="just">
              <a:buNone/>
            </a:pPr>
            <a:endParaRPr lang="en-IN" sz="2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92162"/>
          </a:xfrm>
        </p:spPr>
        <p:txBody>
          <a:bodyPr>
            <a:normAutofit/>
          </a:bodyPr>
          <a:lstStyle/>
          <a:p>
            <a:r>
              <a:rPr lang="en-IN" sz="4000" b="1" dirty="0" smtClean="0">
                <a:latin typeface="Times New Roman" pitchFamily="18" charset="0"/>
                <a:cs typeface="Times New Roman" pitchFamily="18" charset="0"/>
              </a:rPr>
              <a:t>Meaning and definition of MA</a:t>
            </a:r>
            <a:endParaRPr lang="en-US" sz="4000" b="1" dirty="0">
              <a:latin typeface="Times New Roman" pitchFamily="18" charset="0"/>
              <a:cs typeface="Times New Roman" pitchFamily="18" charset="0"/>
            </a:endParaRPr>
          </a:p>
        </p:txBody>
      </p:sp>
      <p:sp>
        <p:nvSpPr>
          <p:cNvPr id="3" name="Content Placeholder 2"/>
          <p:cNvSpPr>
            <a:spLocks noGrp="1"/>
          </p:cNvSpPr>
          <p:nvPr>
            <p:ph idx="1"/>
          </p:nvPr>
        </p:nvSpPr>
        <p:spPr>
          <a:xfrm>
            <a:off x="304800" y="914400"/>
            <a:ext cx="8610600" cy="5638799"/>
          </a:xfrm>
        </p:spPr>
        <p:txBody>
          <a:bodyPr>
            <a:normAutofit/>
          </a:bodyPr>
          <a:lstStyle/>
          <a:p>
            <a:pPr algn="just"/>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Managerial accounting or management accounting is a type of accounting that involves identifying, analyzing, interpreting, and communicating financial information to managers to make informed decisions that support the long-term goals of a company.</a:t>
            </a:r>
          </a:p>
          <a:p>
            <a:pPr algn="just"/>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It provides financial information for an organization’s internal management in order to inform decision-making and improve performance.</a:t>
            </a:r>
          </a:p>
          <a:p>
            <a:pPr algn="just"/>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It is internal and forward-looking, while financial accounting tends to be external and focuses on recording past events.</a:t>
            </a:r>
          </a:p>
          <a:p>
            <a:pPr algn="just"/>
            <a:endParaRPr lang="en-US" sz="2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57200"/>
          </a:xfrm>
        </p:spPr>
        <p:txBody>
          <a:bodyPr>
            <a:noAutofit/>
          </a:bodyPr>
          <a:lstStyle/>
          <a:p>
            <a:pPr algn="l"/>
            <a:r>
              <a:rPr lang="en-IN" sz="2800" dirty="0" smtClean="0">
                <a:latin typeface="Times New Roman" pitchFamily="18" charset="0"/>
                <a:cs typeface="Times New Roman" pitchFamily="18" charset="0"/>
              </a:rPr>
              <a:t>Continued....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228600" y="533400"/>
            <a:ext cx="8686800" cy="6172200"/>
          </a:xfrm>
        </p:spPr>
        <p:txBody>
          <a:bodyPr>
            <a:normAutofit lnSpcReduction="10000"/>
          </a:bodyPr>
          <a:lstStyle/>
          <a:p>
            <a:pPr algn="just">
              <a:buNone/>
            </a:pPr>
            <a:r>
              <a:rPr lang="en-IN" sz="2400" b="1" dirty="0" smtClean="0">
                <a:latin typeface="Times New Roman" pitchFamily="18" charset="0"/>
                <a:cs typeface="Times New Roman" pitchFamily="18" charset="0"/>
              </a:rPr>
              <a:t>Different definitions of MA:</a:t>
            </a:r>
          </a:p>
          <a:p>
            <a:pPr marL="457200" indent="-457200" algn="just">
              <a:buAutoNum type="arabicPeriod"/>
            </a:pPr>
            <a:r>
              <a:rPr lang="en-US" sz="2200" dirty="0" smtClean="0">
                <a:latin typeface="Times New Roman" pitchFamily="18" charset="0"/>
                <a:cs typeface="Times New Roman" pitchFamily="18" charset="0"/>
              </a:rPr>
              <a:t>According to Anglo-American Council on Productivity (AACP, 1948): “</a:t>
            </a:r>
            <a:r>
              <a:rPr lang="en-US" sz="2200" i="1" dirty="0" smtClean="0">
                <a:latin typeface="Times New Roman" pitchFamily="18" charset="0"/>
                <a:cs typeface="Times New Roman" pitchFamily="18" charset="0"/>
              </a:rPr>
              <a:t>MA is the presentation of accounting information in such a way as to assist management in the creation of policy and in day-to-day operation of an understanding</a:t>
            </a:r>
            <a:r>
              <a:rPr lang="en-US" sz="2200" dirty="0" smtClean="0">
                <a:latin typeface="Times New Roman" pitchFamily="18" charset="0"/>
                <a:cs typeface="Times New Roman" pitchFamily="18" charset="0"/>
              </a:rPr>
              <a:t>”.</a:t>
            </a:r>
          </a:p>
          <a:p>
            <a:pPr marL="457200" indent="-457200" algn="just">
              <a:buAutoNum type="arabicPeriod"/>
            </a:pPr>
            <a:endParaRPr lang="en-US" sz="2200" dirty="0" smtClean="0">
              <a:latin typeface="Times New Roman" pitchFamily="18" charset="0"/>
              <a:cs typeface="Times New Roman" pitchFamily="18" charset="0"/>
            </a:endParaRPr>
          </a:p>
          <a:p>
            <a:pPr algn="just">
              <a:buNone/>
            </a:pPr>
            <a:r>
              <a:rPr lang="en-US" sz="2200" dirty="0" smtClean="0">
                <a:latin typeface="Times New Roman" pitchFamily="18" charset="0"/>
                <a:cs typeface="Times New Roman" pitchFamily="18" charset="0"/>
              </a:rPr>
              <a:t>2. J Batty defines: “</a:t>
            </a:r>
            <a:r>
              <a:rPr lang="en-US" sz="2200" i="1" dirty="0" smtClean="0">
                <a:latin typeface="Times New Roman" pitchFamily="18" charset="0"/>
                <a:cs typeface="Times New Roman" pitchFamily="18" charset="0"/>
              </a:rPr>
              <a:t>Management accounting is the term used to describe accounting methods, systems and techniques which coupled with special knowledge and ability, assists management in its task of maximizing profits or minimizing losses</a:t>
            </a:r>
            <a:r>
              <a:rPr lang="en-US" sz="2200" dirty="0" smtClean="0">
                <a:latin typeface="Times New Roman" pitchFamily="18" charset="0"/>
                <a:cs typeface="Times New Roman" pitchFamily="18" charset="0"/>
              </a:rPr>
              <a:t>.”</a:t>
            </a:r>
          </a:p>
          <a:p>
            <a:pPr algn="just">
              <a:buNone/>
            </a:pPr>
            <a:endParaRPr lang="en-US" sz="2200" dirty="0" smtClean="0">
              <a:latin typeface="Times New Roman" pitchFamily="18" charset="0"/>
              <a:cs typeface="Times New Roman" pitchFamily="18" charset="0"/>
            </a:endParaRPr>
          </a:p>
          <a:p>
            <a:pPr algn="just">
              <a:buNone/>
            </a:pPr>
            <a:r>
              <a:rPr lang="en-US" sz="2200" dirty="0" smtClean="0">
                <a:latin typeface="Times New Roman" pitchFamily="18" charset="0"/>
                <a:cs typeface="Times New Roman" pitchFamily="18" charset="0"/>
              </a:rPr>
              <a:t>3. Brown and Howard: “</a:t>
            </a:r>
            <a:r>
              <a:rPr lang="en-US" sz="2200" i="1" dirty="0" smtClean="0">
                <a:latin typeface="Times New Roman" pitchFamily="18" charset="0"/>
                <a:cs typeface="Times New Roman" pitchFamily="18" charset="0"/>
              </a:rPr>
              <a:t>Management accounting is that aspect of accounting which is concerned with the efficient management of a business through the presentation of management of such information as will facilitate efficient and opportune planning and control.</a:t>
            </a:r>
            <a:r>
              <a:rPr lang="en-US" sz="2200" dirty="0" smtClean="0">
                <a:latin typeface="Times New Roman" pitchFamily="18" charset="0"/>
                <a:cs typeface="Times New Roman" pitchFamily="18" charset="0"/>
              </a:rPr>
              <a:t>” </a:t>
            </a:r>
          </a:p>
          <a:p>
            <a:pPr algn="just">
              <a:buNone/>
            </a:pPr>
            <a:endParaRPr lang="en-US" sz="2200" dirty="0" smtClean="0">
              <a:latin typeface="Times New Roman" pitchFamily="18" charset="0"/>
              <a:cs typeface="Times New Roman" pitchFamily="18" charset="0"/>
            </a:endParaRPr>
          </a:p>
          <a:p>
            <a:pPr algn="just">
              <a:buNone/>
            </a:pPr>
            <a:r>
              <a:rPr lang="en-US" sz="2200" dirty="0" smtClean="0">
                <a:latin typeface="Times New Roman" pitchFamily="18" charset="0"/>
                <a:cs typeface="Times New Roman" pitchFamily="18" charset="0"/>
              </a:rPr>
              <a:t>4. Robert Anthony: “</a:t>
            </a:r>
            <a:r>
              <a:rPr lang="en-US" sz="2200" i="1" dirty="0" smtClean="0">
                <a:latin typeface="Times New Roman" pitchFamily="18" charset="0"/>
                <a:cs typeface="Times New Roman" pitchFamily="18" charset="0"/>
              </a:rPr>
              <a:t>Management accounting is concerned with accounting information which is useful to management</a:t>
            </a:r>
            <a:r>
              <a:rPr lang="en-US" sz="2200" dirty="0" smtClean="0">
                <a:latin typeface="Times New Roman" pitchFamily="18" charset="0"/>
                <a:cs typeface="Times New Roman" pitchFamily="18" charset="0"/>
              </a:rPr>
              <a:t>” </a:t>
            </a:r>
          </a:p>
          <a:p>
            <a:pPr algn="just">
              <a:buNone/>
            </a:pPr>
            <a:endParaRPr lang="en-US" sz="2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57200"/>
          </a:xfrm>
        </p:spPr>
        <p:txBody>
          <a:bodyPr>
            <a:noAutofit/>
          </a:bodyPr>
          <a:lstStyle/>
          <a:p>
            <a:pPr algn="l"/>
            <a:r>
              <a:rPr lang="en-IN" sz="2800" dirty="0" smtClean="0">
                <a:latin typeface="Times New Roman" pitchFamily="18" charset="0"/>
                <a:cs typeface="Times New Roman" pitchFamily="18" charset="0"/>
              </a:rPr>
              <a:t>Continued....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228600" y="533400"/>
            <a:ext cx="8686800" cy="6172200"/>
          </a:xfrm>
        </p:spPr>
        <p:txBody>
          <a:bodyPr>
            <a:normAutofit/>
          </a:bodyPr>
          <a:lstStyle/>
          <a:p>
            <a:pPr algn="just">
              <a:buNone/>
            </a:pPr>
            <a:endParaRPr lang="en-IN" sz="2200" b="1" dirty="0" smtClean="0">
              <a:latin typeface="Times New Roman" pitchFamily="18" charset="0"/>
              <a:cs typeface="Times New Roman" pitchFamily="18" charset="0"/>
            </a:endParaRPr>
          </a:p>
          <a:p>
            <a:pPr algn="just">
              <a:buNone/>
            </a:pPr>
            <a:r>
              <a:rPr lang="en-IN" sz="2400" b="1" dirty="0" smtClean="0">
                <a:latin typeface="Times New Roman" pitchFamily="18" charset="0"/>
                <a:cs typeface="Times New Roman" pitchFamily="18" charset="0"/>
              </a:rPr>
              <a:t>Management accounting leads to:</a:t>
            </a:r>
          </a:p>
          <a:p>
            <a:pPr algn="just">
              <a:buNone/>
            </a:pPr>
            <a:endParaRPr lang="en-IN" sz="2200" b="1" dirty="0" smtClean="0">
              <a:latin typeface="Times New Roman" pitchFamily="18" charset="0"/>
              <a:cs typeface="Times New Roman" pitchFamily="18" charset="0"/>
            </a:endParaRPr>
          </a:p>
          <a:p>
            <a:pPr algn="just">
              <a:buNone/>
            </a:pPr>
            <a:r>
              <a:rPr lang="en-IN" sz="2200" b="1" dirty="0" smtClean="0">
                <a:latin typeface="Times New Roman" pitchFamily="18" charset="0"/>
                <a:cs typeface="Times New Roman" pitchFamily="18" charset="0"/>
              </a:rPr>
              <a:t>Effective</a:t>
            </a:r>
          </a:p>
          <a:p>
            <a:pPr marL="571500" indent="-571500" algn="just">
              <a:buFont typeface="+mj-lt"/>
              <a:buAutoNum type="romanUcPeriod"/>
            </a:pPr>
            <a:r>
              <a:rPr lang="en-US" sz="2200" dirty="0" smtClean="0">
                <a:latin typeface="Times New Roman" panose="02020603050405020304" pitchFamily="18" charset="0"/>
                <a:cs typeface="Times New Roman" panose="02020603050405020304" pitchFamily="18" charset="0"/>
              </a:rPr>
              <a:t>Formulation of plans to meet objectives (strategic planning); </a:t>
            </a:r>
          </a:p>
          <a:p>
            <a:pPr marL="571500" indent="-571500" algn="just">
              <a:buFont typeface="+mj-lt"/>
              <a:buAutoNum type="romanUcPeriod"/>
            </a:pPr>
            <a:r>
              <a:rPr lang="en-US" sz="2200" dirty="0" smtClean="0">
                <a:latin typeface="Times New Roman" panose="02020603050405020304" pitchFamily="18" charset="0"/>
                <a:cs typeface="Times New Roman" panose="02020603050405020304" pitchFamily="18" charset="0"/>
              </a:rPr>
              <a:t>Formulation of short-term operation plans (budgeting/profit; planning); </a:t>
            </a:r>
          </a:p>
          <a:p>
            <a:pPr marL="571500" indent="-571500" algn="just">
              <a:buFont typeface="+mj-lt"/>
              <a:buAutoNum type="romanUcPeriod"/>
            </a:pPr>
            <a:r>
              <a:rPr lang="en-US" sz="2200" dirty="0" smtClean="0">
                <a:latin typeface="Times New Roman" panose="02020603050405020304" pitchFamily="18" charset="0"/>
                <a:cs typeface="Times New Roman" panose="02020603050405020304" pitchFamily="18" charset="0"/>
              </a:rPr>
              <a:t>Acquisition and use of finance (financial management); </a:t>
            </a:r>
          </a:p>
          <a:p>
            <a:pPr marL="571500" indent="-571500" algn="just">
              <a:buFont typeface="+mj-lt"/>
              <a:buAutoNum type="romanUcPeriod"/>
            </a:pPr>
            <a:r>
              <a:rPr lang="en-US" sz="2200" dirty="0" smtClean="0">
                <a:latin typeface="Times New Roman" panose="02020603050405020304" pitchFamily="18" charset="0"/>
                <a:cs typeface="Times New Roman" panose="02020603050405020304" pitchFamily="18" charset="0"/>
              </a:rPr>
              <a:t>Communication of financial and operating information; </a:t>
            </a:r>
          </a:p>
          <a:p>
            <a:pPr marL="571500" indent="-571500" algn="just">
              <a:buFont typeface="+mj-lt"/>
              <a:buAutoNum type="romanUcPeriod"/>
            </a:pPr>
            <a:r>
              <a:rPr lang="en-US" sz="2200" dirty="0" smtClean="0">
                <a:latin typeface="Times New Roman" panose="02020603050405020304" pitchFamily="18" charset="0"/>
                <a:cs typeface="Times New Roman" panose="02020603050405020304" pitchFamily="18" charset="0"/>
              </a:rPr>
              <a:t>Corrective action to bring plans and results into line (financial control); </a:t>
            </a:r>
          </a:p>
          <a:p>
            <a:pPr marL="571500" indent="-571500" algn="just">
              <a:buFont typeface="+mj-lt"/>
              <a:buAutoNum type="romanUcPeriod"/>
            </a:pPr>
            <a:r>
              <a:rPr lang="en-US" sz="2200" dirty="0" smtClean="0">
                <a:latin typeface="Times New Roman" panose="02020603050405020304" pitchFamily="18" charset="0"/>
                <a:cs typeface="Times New Roman" panose="02020603050405020304" pitchFamily="18" charset="0"/>
              </a:rPr>
              <a:t>Reviewing and reporting on systems and operations (internal audit, management audit).</a:t>
            </a:r>
            <a:endParaRPr lang="en-IN" sz="2200" b="1" dirty="0" smtClean="0">
              <a:latin typeface="Times New Roman" panose="02020603050405020304" pitchFamily="18" charset="0"/>
              <a:cs typeface="Times New Roman" panose="02020603050405020304" pitchFamily="18" charset="0"/>
            </a:endParaRPr>
          </a:p>
          <a:p>
            <a:pPr algn="just">
              <a:buNone/>
            </a:pPr>
            <a:endParaRPr lang="en-US" sz="2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609600"/>
          </a:xfrm>
        </p:spPr>
        <p:txBody>
          <a:bodyPr>
            <a:normAutofit fontScale="90000"/>
          </a:bodyPr>
          <a:lstStyle/>
          <a:p>
            <a:r>
              <a:rPr lang="en-IN" sz="4000" b="1" dirty="0" smtClean="0">
                <a:latin typeface="Times New Roman" pitchFamily="18" charset="0"/>
                <a:cs typeface="Times New Roman" pitchFamily="18" charset="0"/>
              </a:rPr>
              <a:t>Nature of management accounting</a:t>
            </a:r>
            <a:endParaRPr lang="en-US" sz="4000" b="1" dirty="0">
              <a:latin typeface="Times New Roman" pitchFamily="18" charset="0"/>
              <a:cs typeface="Times New Roman" pitchFamily="18" charset="0"/>
            </a:endParaRPr>
          </a:p>
        </p:txBody>
      </p:sp>
      <p:sp>
        <p:nvSpPr>
          <p:cNvPr id="3" name="Content Placeholder 2"/>
          <p:cNvSpPr>
            <a:spLocks noGrp="1"/>
          </p:cNvSpPr>
          <p:nvPr>
            <p:ph idx="1"/>
          </p:nvPr>
        </p:nvSpPr>
        <p:spPr>
          <a:xfrm>
            <a:off x="152400" y="838200"/>
            <a:ext cx="8763000" cy="5791199"/>
          </a:xfrm>
        </p:spPr>
        <p:txBody>
          <a:bodyPr>
            <a:noAutofit/>
          </a:bodyPr>
          <a:lstStyle/>
          <a:p>
            <a:pPr marL="514350" indent="-514350" algn="just">
              <a:buFont typeface="+mj-lt"/>
              <a:buAutoNum type="romanUcPeriod"/>
            </a:pPr>
            <a:r>
              <a:rPr lang="en-US" sz="2200" b="1" dirty="0" smtClean="0">
                <a:latin typeface="Times New Roman" panose="02020603050405020304" pitchFamily="18" charset="0"/>
                <a:cs typeface="Times New Roman" panose="02020603050405020304" pitchFamily="18" charset="0"/>
              </a:rPr>
              <a:t>Decision-making system: </a:t>
            </a:r>
            <a:r>
              <a:rPr lang="en-US" sz="2200" dirty="0" smtClean="0">
                <a:latin typeface="Times New Roman" panose="02020603050405020304" pitchFamily="18" charset="0"/>
                <a:cs typeface="Times New Roman" panose="02020603050405020304" pitchFamily="18" charset="0"/>
              </a:rPr>
              <a:t>It provides accounting information to assist management in the creation of policy and in the day-to-day operations. </a:t>
            </a:r>
          </a:p>
          <a:p>
            <a:pPr marL="514350" indent="-514350" algn="just">
              <a:buFont typeface="+mj-lt"/>
              <a:buAutoNum type="romanUcPeriod"/>
            </a:pPr>
            <a:r>
              <a:rPr lang="en-US" sz="2200" b="1" dirty="0" smtClean="0">
                <a:latin typeface="Times New Roman" panose="02020603050405020304" pitchFamily="18" charset="0"/>
                <a:cs typeface="Times New Roman" panose="02020603050405020304" pitchFamily="18" charset="0"/>
              </a:rPr>
              <a:t>Futuristic:</a:t>
            </a:r>
            <a:r>
              <a:rPr lang="en-US" sz="2200" dirty="0" smtClean="0">
                <a:latin typeface="Times New Roman" panose="02020603050405020304" pitchFamily="18" charset="0"/>
                <a:cs typeface="Times New Roman" panose="02020603050405020304" pitchFamily="18" charset="0"/>
              </a:rPr>
              <a:t> Unlike the financial accounting, MA deals with the future. It </a:t>
            </a:r>
            <a:r>
              <a:rPr lang="en-US" sz="2200" i="1" dirty="0" smtClean="0">
                <a:latin typeface="Times New Roman" panose="02020603050405020304" pitchFamily="18" charset="0"/>
                <a:cs typeface="Times New Roman" panose="02020603050405020304" pitchFamily="18" charset="0"/>
              </a:rPr>
              <a:t>helps in planning the future-because decisions are always taken for the future course of action</a:t>
            </a:r>
            <a:r>
              <a:rPr lang="en-US" sz="2200" dirty="0" smtClean="0">
                <a:latin typeface="Times New Roman" panose="02020603050405020304" pitchFamily="18" charset="0"/>
                <a:cs typeface="Times New Roman" panose="02020603050405020304" pitchFamily="18" charset="0"/>
              </a:rPr>
              <a:t>.</a:t>
            </a:r>
          </a:p>
          <a:p>
            <a:pPr marL="514350" indent="-514350" algn="just">
              <a:buFont typeface="+mj-lt"/>
              <a:buAutoNum type="romanUcPeriod"/>
            </a:pPr>
            <a:r>
              <a:rPr lang="en-US" sz="2200" b="1" dirty="0" smtClean="0">
                <a:latin typeface="Times New Roman" panose="02020603050405020304" pitchFamily="18" charset="0"/>
                <a:cs typeface="Times New Roman" panose="02020603050405020304" pitchFamily="18" charset="0"/>
              </a:rPr>
              <a:t>Technique of selective nature: </a:t>
            </a:r>
            <a:r>
              <a:rPr lang="en-US" sz="2200" dirty="0" smtClean="0">
                <a:latin typeface="Times New Roman" panose="02020603050405020304" pitchFamily="18" charset="0"/>
                <a:cs typeface="Times New Roman" panose="02020603050405020304" pitchFamily="18" charset="0"/>
              </a:rPr>
              <a:t>Management accountant takes into account </a:t>
            </a:r>
            <a:r>
              <a:rPr lang="en-US" sz="2200" i="1" dirty="0" smtClean="0">
                <a:latin typeface="Times New Roman" panose="02020603050405020304" pitchFamily="18" charset="0"/>
                <a:cs typeface="Times New Roman" panose="02020603050405020304" pitchFamily="18" charset="0"/>
              </a:rPr>
              <a:t>only those data from the financial statement and communicates to the management which is useful for taking decisions. </a:t>
            </a:r>
            <a:endParaRPr lang="en-US" sz="2200" dirty="0" smtClean="0">
              <a:latin typeface="Times New Roman" panose="02020603050405020304" pitchFamily="18" charset="0"/>
              <a:cs typeface="Times New Roman" panose="02020603050405020304" pitchFamily="18" charset="0"/>
            </a:endParaRPr>
          </a:p>
          <a:p>
            <a:pPr marL="514350" indent="-514350" algn="just">
              <a:buFont typeface="+mj-lt"/>
              <a:buAutoNum type="romanUcPeriod"/>
            </a:pPr>
            <a:r>
              <a:rPr lang="en-US" sz="2200" b="1" dirty="0" smtClean="0">
                <a:latin typeface="Times New Roman" panose="02020603050405020304" pitchFamily="18" charset="0"/>
                <a:cs typeface="Times New Roman" panose="02020603050405020304" pitchFamily="18" charset="0"/>
              </a:rPr>
              <a:t>Analyses different variations: </a:t>
            </a:r>
            <a:r>
              <a:rPr lang="en-US" sz="2200" dirty="0" smtClean="0">
                <a:latin typeface="Times New Roman" panose="02020603050405020304" pitchFamily="18" charset="0"/>
                <a:cs typeface="Times New Roman" panose="02020603050405020304" pitchFamily="18" charset="0"/>
              </a:rPr>
              <a:t>MA helps in analyzing the reasons for variations in profit as compared to the past period. It </a:t>
            </a:r>
            <a:r>
              <a:rPr lang="en-US" sz="2200" i="1" dirty="0" smtClean="0">
                <a:latin typeface="Times New Roman" panose="02020603050405020304" pitchFamily="18" charset="0"/>
                <a:cs typeface="Times New Roman" panose="02020603050405020304" pitchFamily="18" charset="0"/>
              </a:rPr>
              <a:t>analyses the effects of different variables on the profits and profitability. </a:t>
            </a:r>
          </a:p>
          <a:p>
            <a:pPr marL="514350" indent="-514350" algn="just">
              <a:buFont typeface="+mj-lt"/>
              <a:buAutoNum type="romanUcPeriod"/>
            </a:pPr>
            <a:r>
              <a:rPr lang="en-US" sz="2200" b="1" dirty="0" smtClean="0">
                <a:latin typeface="Times New Roman" panose="02020603050405020304" pitchFamily="18" charset="0"/>
                <a:cs typeface="Times New Roman" panose="02020603050405020304" pitchFamily="18" charset="0"/>
              </a:rPr>
              <a:t>Does not set particular formats for information: </a:t>
            </a:r>
            <a:r>
              <a:rPr lang="en-US" sz="2200" dirty="0" smtClean="0">
                <a:latin typeface="Times New Roman" panose="02020603050405020304" pitchFamily="18" charset="0"/>
                <a:cs typeface="Times New Roman" panose="02020603050405020304" pitchFamily="18" charset="0"/>
              </a:rPr>
              <a:t>It provides necessary information to the management in the form which may be more useful to the management in taking various decisions on different aspects of the business.</a:t>
            </a:r>
            <a:endParaRPr lang="en-US" sz="22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533400"/>
          </a:xfrm>
        </p:spPr>
        <p:txBody>
          <a:bodyPr>
            <a:normAutofit fontScale="90000"/>
          </a:bodyPr>
          <a:lstStyle/>
          <a:p>
            <a:r>
              <a:rPr lang="en-IN" sz="4000" b="1" dirty="0" smtClean="0">
                <a:latin typeface="Times New Roman" pitchFamily="18" charset="0"/>
                <a:cs typeface="Times New Roman" pitchFamily="18" charset="0"/>
              </a:rPr>
              <a:t>Scope of MA</a:t>
            </a:r>
            <a:endParaRPr lang="en-US" sz="4000" b="1" dirty="0">
              <a:latin typeface="Times New Roman" pitchFamily="18" charset="0"/>
              <a:cs typeface="Times New Roman" pitchFamily="18" charset="0"/>
            </a:endParaRPr>
          </a:p>
        </p:txBody>
      </p:sp>
      <p:sp>
        <p:nvSpPr>
          <p:cNvPr id="3" name="Content Placeholder 2"/>
          <p:cNvSpPr>
            <a:spLocks noGrp="1"/>
          </p:cNvSpPr>
          <p:nvPr>
            <p:ph idx="1"/>
          </p:nvPr>
        </p:nvSpPr>
        <p:spPr>
          <a:xfrm>
            <a:off x="228600" y="609600"/>
            <a:ext cx="8610600" cy="6019799"/>
          </a:xfrm>
        </p:spPr>
        <p:txBody>
          <a:bodyPr>
            <a:normAutofit lnSpcReduction="10000"/>
          </a:bodyPr>
          <a:lstStyle/>
          <a:p>
            <a:pPr marL="457200" indent="-457200" algn="just">
              <a:buAutoNum type="arabicPeriod"/>
            </a:pPr>
            <a:r>
              <a:rPr lang="en-US" sz="2200" b="1" dirty="0" smtClean="0">
                <a:latin typeface="Times New Roman" pitchFamily="18" charset="0"/>
                <a:cs typeface="Times New Roman" pitchFamily="18" charset="0"/>
              </a:rPr>
              <a:t>Formulation, implementation, and operation of systems</a:t>
            </a:r>
            <a:r>
              <a:rPr lang="en-US" sz="2200" dirty="0" smtClean="0">
                <a:latin typeface="Times New Roman" pitchFamily="18" charset="0"/>
                <a:cs typeface="Times New Roman" pitchFamily="18" charset="0"/>
              </a:rPr>
              <a:t>:</a:t>
            </a:r>
            <a:br>
              <a:rPr lang="en-US" sz="2200" dirty="0" smtClean="0">
                <a:latin typeface="Times New Roman" pitchFamily="18" charset="0"/>
                <a:cs typeface="Times New Roman" pitchFamily="18" charset="0"/>
              </a:rPr>
            </a:br>
            <a:r>
              <a:rPr lang="en-US" sz="2200" dirty="0" smtClean="0">
                <a:latin typeface="Times New Roman" pitchFamily="18" charset="0"/>
                <a:cs typeface="Times New Roman" pitchFamily="18" charset="0"/>
              </a:rPr>
              <a:t>Involves the formation, installation, and operation of accounting systems, including cost accounting, tax accounting, and information systems. Management accountants continuously adapt and reconstruct these systems to align with evolving managerial needs.</a:t>
            </a:r>
          </a:p>
          <a:p>
            <a:pPr marL="457200" indent="-457200" algn="just">
              <a:buAutoNum type="arabicPeriod"/>
            </a:pPr>
            <a:endParaRPr lang="en-US" sz="2200" b="1" dirty="0" smtClean="0">
              <a:latin typeface="Times New Roman" pitchFamily="18" charset="0"/>
              <a:cs typeface="Times New Roman" pitchFamily="18" charset="0"/>
            </a:endParaRPr>
          </a:p>
          <a:p>
            <a:pPr marL="457200" indent="-457200" algn="just">
              <a:buAutoNum type="arabicPeriod"/>
            </a:pPr>
            <a:r>
              <a:rPr lang="en-US" sz="2200" b="1" dirty="0" smtClean="0">
                <a:latin typeface="Times New Roman" pitchFamily="18" charset="0"/>
                <a:cs typeface="Times New Roman" pitchFamily="18" charset="0"/>
              </a:rPr>
              <a:t>Compilation and preservation of managerial data</a:t>
            </a:r>
            <a:r>
              <a:rPr lang="en-US" sz="2200" dirty="0" smtClean="0">
                <a:latin typeface="Times New Roman" pitchFamily="18" charset="0"/>
                <a:cs typeface="Times New Roman" pitchFamily="18" charset="0"/>
              </a:rPr>
              <a:t>: Responsible for gathering, organizing, and maintaining essential data to support managerial planning. Past data is presented to highlight trends and facilitate strategic forecasting.</a:t>
            </a:r>
          </a:p>
          <a:p>
            <a:pPr marL="457200" indent="-457200" algn="just">
              <a:buAutoNum type="arabicPeriod"/>
            </a:pPr>
            <a:endParaRPr lang="en-US" sz="2200" b="1" dirty="0" smtClean="0">
              <a:latin typeface="Times New Roman" pitchFamily="18" charset="0"/>
              <a:cs typeface="Times New Roman" pitchFamily="18" charset="0"/>
            </a:endParaRPr>
          </a:p>
          <a:p>
            <a:pPr marL="457200" indent="-457200" algn="just">
              <a:buAutoNum type="arabicPeriod"/>
            </a:pPr>
            <a:r>
              <a:rPr lang="en-US" sz="2200" b="1" dirty="0" smtClean="0">
                <a:latin typeface="Times New Roman" pitchFamily="18" charset="0"/>
                <a:cs typeface="Times New Roman" pitchFamily="18" charset="0"/>
              </a:rPr>
              <a:t>Communication of management plans</a:t>
            </a:r>
            <a:r>
              <a:rPr lang="en-US" sz="2200" dirty="0" smtClean="0">
                <a:latin typeface="Times New Roman" pitchFamily="18" charset="0"/>
                <a:cs typeface="Times New Roman" pitchFamily="18" charset="0"/>
              </a:rPr>
              <a:t>: Develops mechanisms for effectively communicating managerial goals and plans across different levels of the organization.</a:t>
            </a:r>
          </a:p>
          <a:p>
            <a:pPr marL="457200" indent="-457200" algn="just">
              <a:buFont typeface="Arial" pitchFamily="34" charset="0"/>
              <a:buAutoNum type="arabicPeriod"/>
            </a:pPr>
            <a:endParaRPr lang="en-US" sz="2200" b="1" dirty="0" smtClean="0">
              <a:latin typeface="Times New Roman" pitchFamily="18" charset="0"/>
              <a:cs typeface="Times New Roman" pitchFamily="18" charset="0"/>
            </a:endParaRPr>
          </a:p>
          <a:p>
            <a:pPr marL="457200" indent="-457200" algn="just">
              <a:buFont typeface="Arial" pitchFamily="34" charset="0"/>
              <a:buAutoNum type="arabicPeriod"/>
            </a:pPr>
            <a:r>
              <a:rPr lang="en-US" sz="2200" b="1" dirty="0" smtClean="0">
                <a:latin typeface="Times New Roman" pitchFamily="18" charset="0"/>
                <a:cs typeface="Times New Roman" pitchFamily="18" charset="0"/>
              </a:rPr>
              <a:t>Installation of feedback and control Systems</a:t>
            </a:r>
            <a:r>
              <a:rPr lang="en-US" sz="2200" dirty="0" smtClean="0">
                <a:latin typeface="Times New Roman" pitchFamily="18" charset="0"/>
                <a:cs typeface="Times New Roman" pitchFamily="18" charset="0"/>
              </a:rPr>
              <a:t>: Establishes systems of feedback reporting to support managerial control which identify significant variances between actual and expected outcomes.</a:t>
            </a:r>
          </a:p>
          <a:p>
            <a:pPr marL="457200" indent="-457200" algn="just">
              <a:buNone/>
            </a:pPr>
            <a:endParaRPr lang="en-US" sz="22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458200" cy="6400800"/>
          </a:xfrm>
        </p:spPr>
        <p:txBody>
          <a:bodyPr>
            <a:noAutofit/>
          </a:bodyPr>
          <a:lstStyle/>
          <a:p>
            <a:pPr algn="just">
              <a:buNone/>
            </a:pPr>
            <a:r>
              <a:rPr lang="en-US" sz="2200" b="1" dirty="0" smtClean="0">
                <a:latin typeface="Times New Roman" pitchFamily="18" charset="0"/>
                <a:cs typeface="Times New Roman" pitchFamily="18" charset="0"/>
              </a:rPr>
              <a:t> 5. Analysis and interpretation of data</a:t>
            </a:r>
            <a:r>
              <a:rPr lang="en-US" sz="2200" dirty="0" smtClean="0">
                <a:latin typeface="Times New Roman" pitchFamily="18" charset="0"/>
                <a:cs typeface="Times New Roman" pitchFamily="18" charset="0"/>
              </a:rPr>
              <a:t>: Transforms accounting and non-accounting information into meaningful insights, making it understandable and actionable for decision-makers.</a:t>
            </a:r>
          </a:p>
          <a:p>
            <a:pPr algn="just">
              <a:buNone/>
            </a:pPr>
            <a:endParaRPr lang="en-US" sz="2200" dirty="0" smtClean="0">
              <a:latin typeface="Times New Roman" pitchFamily="18" charset="0"/>
              <a:cs typeface="Times New Roman" pitchFamily="18" charset="0"/>
            </a:endParaRPr>
          </a:p>
          <a:p>
            <a:pPr algn="just">
              <a:buNone/>
            </a:pPr>
            <a:r>
              <a:rPr lang="en-US" sz="2200" b="1" dirty="0" smtClean="0">
                <a:latin typeface="Times New Roman" pitchFamily="18" charset="0"/>
                <a:cs typeface="Times New Roman" pitchFamily="18" charset="0"/>
              </a:rPr>
              <a:t>6. Support for decision-making</a:t>
            </a:r>
            <a:r>
              <a:rPr lang="en-US" sz="2200" dirty="0" smtClean="0">
                <a:latin typeface="Times New Roman" pitchFamily="18" charset="0"/>
                <a:cs typeface="Times New Roman" pitchFamily="18" charset="0"/>
              </a:rPr>
              <a:t>: Assists management in making informed decisions by: (a) Providing relevant financial and non-financial data, (b) Evaluating the impact of alternative strategies on profitability and the overall position of the enterprise.</a:t>
            </a:r>
          </a:p>
          <a:p>
            <a:pPr algn="just">
              <a:buNone/>
            </a:pPr>
            <a:endParaRPr lang="en-US" sz="2200" dirty="0" smtClean="0">
              <a:latin typeface="Times New Roman" pitchFamily="18" charset="0"/>
              <a:cs typeface="Times New Roman" pitchFamily="18" charset="0"/>
            </a:endParaRPr>
          </a:p>
          <a:p>
            <a:pPr algn="just">
              <a:buNone/>
            </a:pPr>
            <a:r>
              <a:rPr lang="en-US" sz="2200" b="1" dirty="0" smtClean="0">
                <a:latin typeface="Times New Roman" pitchFamily="18" charset="0"/>
                <a:cs typeface="Times New Roman" pitchFamily="18" charset="0"/>
              </a:rPr>
              <a:t>7. Performance Evaluation</a:t>
            </a:r>
            <a:r>
              <a:rPr lang="en-US" sz="2200" dirty="0" smtClean="0">
                <a:latin typeface="Times New Roman" pitchFamily="18" charset="0"/>
                <a:cs typeface="Times New Roman" pitchFamily="18" charset="0"/>
              </a:rPr>
              <a:t>: Develops and applies tools and techniques to assess managerial performance in alignment with organizational objectives, facilitating the practice of </a:t>
            </a:r>
            <a:r>
              <a:rPr lang="en-US" sz="2200" b="1" i="1" dirty="0" smtClean="0">
                <a:latin typeface="Times New Roman" pitchFamily="18" charset="0"/>
                <a:cs typeface="Times New Roman" pitchFamily="18" charset="0"/>
              </a:rPr>
              <a:t>management by objective</a:t>
            </a:r>
            <a:r>
              <a:rPr lang="en-US" sz="2200" dirty="0" smtClean="0">
                <a:latin typeface="Times New Roman" pitchFamily="18" charset="0"/>
                <a:cs typeface="Times New Roman" pitchFamily="18" charset="0"/>
              </a:rPr>
              <a:t>.</a:t>
            </a:r>
          </a:p>
          <a:p>
            <a:pPr algn="just">
              <a:buNone/>
            </a:pPr>
            <a:endParaRPr lang="en-US" sz="2200" dirty="0" smtClean="0">
              <a:latin typeface="Times New Roman" pitchFamily="18" charset="0"/>
              <a:cs typeface="Times New Roman" pitchFamily="18" charset="0"/>
            </a:endParaRPr>
          </a:p>
          <a:p>
            <a:pPr algn="just">
              <a:buNone/>
            </a:pPr>
            <a:r>
              <a:rPr lang="en-US" sz="2200" b="1" dirty="0" smtClean="0">
                <a:latin typeface="Times New Roman" pitchFamily="18" charset="0"/>
                <a:cs typeface="Times New Roman" pitchFamily="18" charset="0"/>
              </a:rPr>
              <a:t>8. Enhancement of analytical techniques</a:t>
            </a:r>
            <a:r>
              <a:rPr lang="en-US" sz="2200" dirty="0" smtClean="0">
                <a:latin typeface="Times New Roman" pitchFamily="18" charset="0"/>
                <a:cs typeface="Times New Roman" pitchFamily="18" charset="0"/>
              </a:rPr>
              <a:t>: Continuously refines and enhances existing methods of analysis to increase their effectiveness and relevance to current managerial challenges.</a:t>
            </a:r>
          </a:p>
          <a:p>
            <a:pPr algn="just">
              <a:buNone/>
            </a:pPr>
            <a:endParaRPr lang="en-US" sz="2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533400"/>
          </a:xfrm>
        </p:spPr>
        <p:txBody>
          <a:bodyPr>
            <a:normAutofit fontScale="90000"/>
          </a:bodyPr>
          <a:lstStyle/>
          <a:p>
            <a:r>
              <a:rPr lang="en-IN" sz="3500" b="1" dirty="0" smtClean="0">
                <a:latin typeface="Times New Roman" pitchFamily="18" charset="0"/>
                <a:cs typeface="Times New Roman" pitchFamily="18" charset="0"/>
              </a:rPr>
              <a:t>Objectives of management accounting</a:t>
            </a:r>
            <a:endParaRPr lang="en-US" sz="3500" b="1" dirty="0">
              <a:latin typeface="Times New Roman" pitchFamily="18" charset="0"/>
              <a:cs typeface="Times New Roman" pitchFamily="18" charset="0"/>
            </a:endParaRPr>
          </a:p>
        </p:txBody>
      </p:sp>
      <p:sp>
        <p:nvSpPr>
          <p:cNvPr id="3" name="Content Placeholder 2"/>
          <p:cNvSpPr>
            <a:spLocks noGrp="1"/>
          </p:cNvSpPr>
          <p:nvPr>
            <p:ph idx="1"/>
          </p:nvPr>
        </p:nvSpPr>
        <p:spPr>
          <a:xfrm>
            <a:off x="228600" y="685800"/>
            <a:ext cx="8610600" cy="5867399"/>
          </a:xfrm>
        </p:spPr>
        <p:txBody>
          <a:bodyPr>
            <a:normAutofit/>
          </a:bodyPr>
          <a:lstStyle/>
          <a:p>
            <a:pPr algn="just">
              <a:buNone/>
            </a:pPr>
            <a:r>
              <a:rPr lang="en-US" sz="2400" dirty="0" smtClean="0">
                <a:latin typeface="Times New Roman" pitchFamily="18" charset="0"/>
                <a:cs typeface="Times New Roman" pitchFamily="18" charset="0"/>
              </a:rPr>
              <a:t>    The fundamental objective of MA is to </a:t>
            </a:r>
            <a:r>
              <a:rPr lang="en-US" sz="2400" b="1" i="1" dirty="0" smtClean="0">
                <a:latin typeface="Times New Roman" pitchFamily="18" charset="0"/>
                <a:cs typeface="Times New Roman" pitchFamily="18" charset="0"/>
              </a:rPr>
              <a:t>assist the management in carrying out its duties efficiently so that maximize profits or minimize losses of management.</a:t>
            </a:r>
            <a:r>
              <a:rPr lang="en-US" sz="2400" dirty="0" smtClean="0">
                <a:latin typeface="Times New Roman" pitchFamily="18" charset="0"/>
                <a:cs typeface="Times New Roman" pitchFamily="18" charset="0"/>
              </a:rPr>
              <a:t> It includes computation of plans and budgets covering all aspects of the business like production, selling, distribution, research and finance.</a:t>
            </a:r>
          </a:p>
          <a:p>
            <a:pPr algn="just">
              <a:buNone/>
            </a:pPr>
            <a:endParaRPr lang="en-US" sz="2400" dirty="0" smtClean="0">
              <a:latin typeface="Times New Roman" pitchFamily="18" charset="0"/>
              <a:cs typeface="Times New Roman" pitchFamily="18" charset="0"/>
            </a:endParaRPr>
          </a:p>
          <a:p>
            <a:pPr algn="just">
              <a:buNone/>
            </a:pPr>
            <a:r>
              <a:rPr lang="en-US" sz="2400" b="1" dirty="0" smtClean="0">
                <a:latin typeface="Times New Roman" pitchFamily="18" charset="0"/>
                <a:cs typeface="Times New Roman" pitchFamily="18" charset="0"/>
              </a:rPr>
              <a:t>The main objectives of management accounting are as follows:</a:t>
            </a:r>
          </a:p>
          <a:p>
            <a:pPr algn="just"/>
            <a:r>
              <a:rPr lang="en-US" sz="2400" dirty="0" smtClean="0">
                <a:latin typeface="Times New Roman" pitchFamily="18" charset="0"/>
                <a:cs typeface="Times New Roman" pitchFamily="18" charset="0"/>
              </a:rPr>
              <a:t>To formulate planning and policy.</a:t>
            </a:r>
          </a:p>
          <a:p>
            <a:pPr algn="just"/>
            <a:r>
              <a:rPr lang="en-US" sz="2400" dirty="0" smtClean="0">
                <a:latin typeface="Times New Roman" pitchFamily="18" charset="0"/>
                <a:cs typeface="Times New Roman" pitchFamily="18" charset="0"/>
              </a:rPr>
              <a:t>To interpretation of financial documents.</a:t>
            </a:r>
          </a:p>
          <a:p>
            <a:pPr algn="just"/>
            <a:r>
              <a:rPr lang="en-US" sz="2400" dirty="0" smtClean="0">
                <a:latin typeface="Times New Roman" pitchFamily="18" charset="0"/>
                <a:cs typeface="Times New Roman" pitchFamily="18" charset="0"/>
              </a:rPr>
              <a:t>To assist in decision-making process.</a:t>
            </a:r>
          </a:p>
          <a:p>
            <a:pPr algn="just"/>
            <a:r>
              <a:rPr lang="en-US" sz="2400" dirty="0" smtClean="0">
                <a:latin typeface="Times New Roman" pitchFamily="18" charset="0"/>
                <a:cs typeface="Times New Roman" pitchFamily="18" charset="0"/>
              </a:rPr>
              <a:t>To help in control.</a:t>
            </a:r>
          </a:p>
          <a:p>
            <a:pPr algn="just"/>
            <a:r>
              <a:rPr lang="en-US" sz="2400" dirty="0" smtClean="0">
                <a:latin typeface="Times New Roman" pitchFamily="18" charset="0"/>
                <a:cs typeface="Times New Roman" pitchFamily="18" charset="0"/>
              </a:rPr>
              <a:t>To provide report.</a:t>
            </a:r>
          </a:p>
          <a:p>
            <a:pPr algn="just"/>
            <a:r>
              <a:rPr lang="en-US" sz="2400" dirty="0" smtClean="0">
                <a:latin typeface="Times New Roman" pitchFamily="18" charset="0"/>
                <a:cs typeface="Times New Roman" pitchFamily="18" charset="0"/>
              </a:rPr>
              <a:t>To facilitate and co-ordination operations.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382000" cy="533400"/>
          </a:xfrm>
        </p:spPr>
        <p:txBody>
          <a:bodyPr>
            <a:noAutofit/>
          </a:bodyPr>
          <a:lstStyle/>
          <a:p>
            <a:r>
              <a:rPr lang="en-US" sz="3600" b="1" dirty="0" smtClean="0">
                <a:latin typeface="Times New Roman" pitchFamily="18" charset="0"/>
                <a:cs typeface="Times New Roman" pitchFamily="18" charset="0"/>
              </a:rPr>
              <a:t>Role and functions of MA</a:t>
            </a: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304800" y="762000"/>
            <a:ext cx="8686800" cy="5867400"/>
          </a:xfrm>
        </p:spPr>
        <p:txBody>
          <a:bodyPr>
            <a:noAutofit/>
          </a:bodyPr>
          <a:lstStyle/>
          <a:p>
            <a:pPr algn="just"/>
            <a:r>
              <a:rPr lang="en-US" sz="2400" dirty="0" smtClean="0">
                <a:latin typeface="Times New Roman" pitchFamily="18" charset="0"/>
                <a:cs typeface="Times New Roman" pitchFamily="18" charset="0"/>
              </a:rPr>
              <a:t>Depending upon the company situation - size, nature and organizational set up, and his own capabilities and position in the company, the management accountant may be required to perform various and varied functions.</a:t>
            </a:r>
          </a:p>
          <a:p>
            <a:pPr algn="just"/>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Management accountant establishes, coordinates and administers plans to facilitate the forecasting of sales, expense budgets and cost standards that will permit profit planning, capital budgeting and financing.</a:t>
            </a:r>
          </a:p>
          <a:p>
            <a:pPr algn="just"/>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Management accountant prepares special reports so that the performance can be compared with plans and standards, and any variance between actual operations and pre-determined standards can be analyzed for corrective actions by management.</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1"/>
            <a:ext cx="8229600" cy="5791200"/>
          </a:xfrm>
        </p:spPr>
        <p:txBody>
          <a:bodyPr>
            <a:normAutofit/>
          </a:bodyPr>
          <a:lstStyle/>
          <a:p>
            <a:pPr algn="just"/>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Management accountant is responsible for the protection of the business assets to the extent possible by external controls, internal auditing and insurance coverage. </a:t>
            </a:r>
          </a:p>
          <a:p>
            <a:pPr algn="just"/>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Management accountant will be responsible for tax policies and procedures and will supervise and coordinate the reports required by various authorities.</a:t>
            </a:r>
          </a:p>
          <a:p>
            <a:pPr algn="just"/>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Management accountant must continually be aware of economic and social forces as well as the effect of governmental policies and actions on business activities.</a:t>
            </a:r>
          </a:p>
          <a:p>
            <a:endParaRPr lang="en-US" sz="2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0" y="76200"/>
          <a:ext cx="9144000" cy="6355080"/>
        </p:xfrm>
        <a:graphic>
          <a:graphicData uri="http://schemas.openxmlformats.org/drawingml/2006/table">
            <a:tbl>
              <a:tblPr firstRow="1" bandRow="1">
                <a:tableStyleId>{5C22544A-7EE6-4342-B048-85BDC9FD1C3A}</a:tableStyleId>
              </a:tblPr>
              <a:tblGrid>
                <a:gridCol w="1676400"/>
                <a:gridCol w="3200400"/>
                <a:gridCol w="4267200"/>
              </a:tblGrid>
              <a:tr h="914400">
                <a:tc>
                  <a:txBody>
                    <a:bodyPr/>
                    <a:lstStyle/>
                    <a:p>
                      <a:pPr algn="just"/>
                      <a:r>
                        <a:rPr lang="en-IN" sz="2200" b="1" dirty="0" smtClean="0">
                          <a:latin typeface="Times New Roman" pitchFamily="18" charset="0"/>
                          <a:cs typeface="Times New Roman" pitchFamily="18" charset="0"/>
                        </a:rPr>
                        <a:t>Parameters</a:t>
                      </a:r>
                      <a:endParaRPr lang="en-US" sz="2200" b="1" dirty="0">
                        <a:latin typeface="Times New Roman" pitchFamily="18" charset="0"/>
                        <a:cs typeface="Times New Roman" pitchFamily="18" charset="0"/>
                      </a:endParaRPr>
                    </a:p>
                  </a:txBody>
                  <a:tcPr/>
                </a:tc>
                <a:tc>
                  <a:txBody>
                    <a:bodyPr/>
                    <a:lstStyle/>
                    <a:p>
                      <a:pPr algn="just"/>
                      <a:r>
                        <a:rPr lang="en-IN" sz="2200" b="1" dirty="0" smtClean="0">
                          <a:latin typeface="Times New Roman" pitchFamily="18" charset="0"/>
                          <a:cs typeface="Times New Roman" pitchFamily="18" charset="0"/>
                        </a:rPr>
                        <a:t>Financial Accounting</a:t>
                      </a:r>
                      <a:endParaRPr lang="en-US" sz="2200" b="1" dirty="0">
                        <a:latin typeface="Times New Roman" pitchFamily="18" charset="0"/>
                        <a:cs typeface="Times New Roman" pitchFamily="18" charset="0"/>
                      </a:endParaRPr>
                    </a:p>
                  </a:txBody>
                  <a:tcPr/>
                </a:tc>
                <a:tc>
                  <a:txBody>
                    <a:bodyPr/>
                    <a:lstStyle/>
                    <a:p>
                      <a:pPr algn="just"/>
                      <a:r>
                        <a:rPr lang="en-IN" sz="2200" b="1" dirty="0" smtClean="0">
                          <a:latin typeface="Times New Roman" pitchFamily="18" charset="0"/>
                          <a:cs typeface="Times New Roman" pitchFamily="18" charset="0"/>
                        </a:rPr>
                        <a:t>Management</a:t>
                      </a:r>
                      <a:r>
                        <a:rPr lang="en-IN" sz="2200" b="1" baseline="0" dirty="0" smtClean="0">
                          <a:latin typeface="Times New Roman" pitchFamily="18" charset="0"/>
                          <a:cs typeface="Times New Roman" pitchFamily="18" charset="0"/>
                        </a:rPr>
                        <a:t> </a:t>
                      </a:r>
                      <a:r>
                        <a:rPr lang="en-IN" sz="2200" b="1" dirty="0" smtClean="0">
                          <a:latin typeface="Times New Roman" pitchFamily="18" charset="0"/>
                          <a:cs typeface="Times New Roman" pitchFamily="18" charset="0"/>
                        </a:rPr>
                        <a:t>Accounting</a:t>
                      </a:r>
                      <a:endParaRPr lang="en-US" sz="2200" b="1" dirty="0">
                        <a:latin typeface="Times New Roman" pitchFamily="18" charset="0"/>
                        <a:cs typeface="Times New Roman" pitchFamily="18" charset="0"/>
                      </a:endParaRPr>
                    </a:p>
                  </a:txBody>
                  <a:tcPr/>
                </a:tc>
              </a:tr>
              <a:tr h="1241625">
                <a:tc>
                  <a:txBody>
                    <a:bodyPr/>
                    <a:lstStyle/>
                    <a:p>
                      <a:pPr algn="just"/>
                      <a:r>
                        <a:rPr lang="en-IN" b="1" dirty="0" smtClean="0">
                          <a:latin typeface="Times New Roman" pitchFamily="18" charset="0"/>
                          <a:cs typeface="Times New Roman" pitchFamily="18" charset="0"/>
                        </a:rPr>
                        <a:t>Objective</a:t>
                      </a:r>
                      <a:endParaRPr lang="en-US" b="1" dirty="0">
                        <a:latin typeface="Times New Roman" pitchFamily="18" charset="0"/>
                        <a:cs typeface="Times New Roman" pitchFamily="18" charset="0"/>
                      </a:endParaRPr>
                    </a:p>
                  </a:txBody>
                  <a:tcPr/>
                </a:tc>
                <a:tc>
                  <a:txBody>
                    <a:bodyPr/>
                    <a:lstStyle/>
                    <a:p>
                      <a:pPr algn="just"/>
                      <a:r>
                        <a:rPr lang="en-US" sz="1800" dirty="0" smtClean="0">
                          <a:latin typeface="Times New Roman" pitchFamily="18" charset="0"/>
                          <a:cs typeface="Times New Roman" pitchFamily="18" charset="0"/>
                        </a:rPr>
                        <a:t>Deals with the </a:t>
                      </a:r>
                      <a:r>
                        <a:rPr lang="en-US" sz="1800" b="1" i="1" dirty="0" smtClean="0">
                          <a:latin typeface="Times New Roman" pitchFamily="18" charset="0"/>
                          <a:cs typeface="Times New Roman" pitchFamily="18" charset="0"/>
                        </a:rPr>
                        <a:t>business transactions and events for the enterprise as a whole</a:t>
                      </a:r>
                      <a:endParaRPr lang="en-US" dirty="0">
                        <a:latin typeface="Times New Roman" pitchFamily="18" charset="0"/>
                        <a:cs typeface="Times New Roman" pitchFamily="18" charset="0"/>
                      </a:endParaRPr>
                    </a:p>
                  </a:txBody>
                  <a:tcPr/>
                </a:tc>
                <a:tc>
                  <a:txBody>
                    <a:bodyPr/>
                    <a:lstStyle/>
                    <a:p>
                      <a:pPr algn="just"/>
                      <a:r>
                        <a:rPr lang="en-IN" dirty="0" smtClean="0">
                          <a:latin typeface="Times New Roman" pitchFamily="18" charset="0"/>
                          <a:cs typeface="Times New Roman" pitchFamily="18" charset="0"/>
                        </a:rPr>
                        <a:t>Considers</a:t>
                      </a:r>
                      <a:r>
                        <a:rPr lang="en-IN" baseline="0" dirty="0" smtClean="0">
                          <a:latin typeface="Times New Roman" pitchFamily="18" charset="0"/>
                          <a:cs typeface="Times New Roman" pitchFamily="18" charset="0"/>
                        </a:rPr>
                        <a:t> </a:t>
                      </a:r>
                      <a:r>
                        <a:rPr lang="en-US" sz="1800" dirty="0" smtClean="0">
                          <a:latin typeface="Times New Roman" pitchFamily="18" charset="0"/>
                          <a:cs typeface="Times New Roman" pitchFamily="18" charset="0"/>
                        </a:rPr>
                        <a:t>organization in various units and segments and attempts to trace the impact of  </a:t>
                      </a:r>
                      <a:r>
                        <a:rPr lang="en-US" sz="1800" b="1" i="1" dirty="0" smtClean="0">
                          <a:latin typeface="Times New Roman" pitchFamily="18" charset="0"/>
                          <a:cs typeface="Times New Roman" pitchFamily="18" charset="0"/>
                        </a:rPr>
                        <a:t>business transactions and events through its various divisions and sub-divisions</a:t>
                      </a:r>
                      <a:r>
                        <a:rPr lang="en-US" sz="1800"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a:txBody>
                  <a:tcPr/>
                </a:tc>
              </a:tr>
              <a:tr h="1554140">
                <a:tc>
                  <a:txBody>
                    <a:bodyPr/>
                    <a:lstStyle/>
                    <a:p>
                      <a:pPr algn="just"/>
                      <a:r>
                        <a:rPr lang="en-US" sz="1800" b="1" dirty="0" smtClean="0">
                          <a:latin typeface="Times New Roman" pitchFamily="18" charset="0"/>
                          <a:cs typeface="Times New Roman" pitchFamily="18" charset="0"/>
                        </a:rPr>
                        <a:t>Subject Matter</a:t>
                      </a:r>
                      <a:endParaRPr lang="en-US" b="1" dirty="0">
                        <a:latin typeface="Times New Roman" pitchFamily="18" charset="0"/>
                        <a:cs typeface="Times New Roman" pitchFamily="18" charset="0"/>
                      </a:endParaRPr>
                    </a:p>
                  </a:txBody>
                  <a:tcPr/>
                </a:tc>
                <a:tc>
                  <a:txBody>
                    <a:bodyPr/>
                    <a:lstStyle/>
                    <a:p>
                      <a:pPr algn="just"/>
                      <a:r>
                        <a:rPr lang="en-US" sz="1800" dirty="0" smtClean="0">
                          <a:latin typeface="Times New Roman" pitchFamily="18" charset="0"/>
                          <a:cs typeface="Times New Roman" pitchFamily="18" charset="0"/>
                        </a:rPr>
                        <a:t>Reports the results and position of the business to persons and authorities (not confined to management) </a:t>
                      </a:r>
                      <a:r>
                        <a:rPr lang="en-US" sz="1800" dirty="0" err="1" smtClean="0">
                          <a:latin typeface="Times New Roman" pitchFamily="18" charset="0"/>
                          <a:cs typeface="Times New Roman" pitchFamily="18" charset="0"/>
                        </a:rPr>
                        <a:t>Govt</a:t>
                      </a:r>
                      <a:r>
                        <a:rPr lang="en-US" sz="1800" dirty="0" smtClean="0">
                          <a:latin typeface="Times New Roman" pitchFamily="18" charset="0"/>
                          <a:cs typeface="Times New Roman" pitchFamily="18" charset="0"/>
                        </a:rPr>
                        <a:t>, creditors, investors, owners, etc</a:t>
                      </a:r>
                      <a:endParaRPr lang="en-US" dirty="0">
                        <a:latin typeface="Times New Roman" pitchFamily="18" charset="0"/>
                        <a:cs typeface="Times New Roman" pitchFamily="18" charset="0"/>
                      </a:endParaRPr>
                    </a:p>
                  </a:txBody>
                  <a:tcPr/>
                </a:tc>
                <a:tc>
                  <a:txBody>
                    <a:bodyPr/>
                    <a:lstStyle/>
                    <a:p>
                      <a:pPr algn="just"/>
                      <a:r>
                        <a:rPr lang="en-US" sz="1800" dirty="0" smtClean="0">
                          <a:latin typeface="Times New Roman" pitchFamily="18" charset="0"/>
                          <a:cs typeface="Times New Roman" pitchFamily="18" charset="0"/>
                        </a:rPr>
                        <a:t>Concerned with generating information for the use of internal management and hence the information reflects the expected position.</a:t>
                      </a:r>
                      <a:endParaRPr lang="en-US" dirty="0">
                        <a:latin typeface="Times New Roman" pitchFamily="18" charset="0"/>
                        <a:cs typeface="Times New Roman" pitchFamily="18" charset="0"/>
                      </a:endParaRPr>
                    </a:p>
                  </a:txBody>
                  <a:tcPr/>
                </a:tc>
              </a:tr>
              <a:tr h="1090435">
                <a:tc>
                  <a:txBody>
                    <a:bodyPr/>
                    <a:lstStyle/>
                    <a:p>
                      <a:pPr algn="just"/>
                      <a:r>
                        <a:rPr lang="en-IN" b="1" dirty="0" smtClean="0">
                          <a:latin typeface="Times New Roman" pitchFamily="18" charset="0"/>
                          <a:cs typeface="Times New Roman" pitchFamily="18" charset="0"/>
                        </a:rPr>
                        <a:t>Data used</a:t>
                      </a:r>
                      <a:endParaRPr lang="en-US" b="1" dirty="0">
                        <a:latin typeface="Times New Roman" pitchFamily="18" charset="0"/>
                        <a:cs typeface="Times New Roman" pitchFamily="18" charset="0"/>
                      </a:endParaRPr>
                    </a:p>
                  </a:txBody>
                  <a:tcPr/>
                </a:tc>
                <a:tc>
                  <a:txBody>
                    <a:bodyPr/>
                    <a:lstStyle/>
                    <a:p>
                      <a:pPr algn="just"/>
                      <a:r>
                        <a:rPr lang="en-US" dirty="0" smtClean="0">
                          <a:latin typeface="Times New Roman" pitchFamily="18" charset="0"/>
                          <a:cs typeface="Times New Roman" pitchFamily="18" charset="0"/>
                        </a:rPr>
                        <a:t>It is historical,</a:t>
                      </a:r>
                      <a:r>
                        <a:rPr lang="en-US" baseline="0" dirty="0" smtClean="0">
                          <a:latin typeface="Times New Roman" pitchFamily="18" charset="0"/>
                          <a:cs typeface="Times New Roman" pitchFamily="18" charset="0"/>
                        </a:rPr>
                        <a:t> as it</a:t>
                      </a:r>
                      <a:r>
                        <a:rPr lang="en-US" dirty="0" smtClean="0">
                          <a:latin typeface="Times New Roman" pitchFamily="18" charset="0"/>
                          <a:cs typeface="Times New Roman" pitchFamily="18" charset="0"/>
                        </a:rPr>
                        <a:t> records and analyses business events long after they have taken place</a:t>
                      </a:r>
                      <a:endParaRPr lang="en-US" dirty="0">
                        <a:latin typeface="Times New Roman" pitchFamily="18" charset="0"/>
                        <a:cs typeface="Times New Roman" pitchFamily="18" charset="0"/>
                      </a:endParaRPr>
                    </a:p>
                  </a:txBody>
                  <a:tcPr/>
                </a:tc>
                <a:tc>
                  <a:txBody>
                    <a:bodyPr/>
                    <a:lstStyle/>
                    <a:p>
                      <a:pPr algn="just"/>
                      <a:r>
                        <a:rPr lang="en-US" sz="1800" dirty="0" smtClean="0">
                          <a:latin typeface="Times New Roman" panose="02020603050405020304" pitchFamily="18" charset="0"/>
                          <a:cs typeface="Times New Roman" panose="02020603050405020304" pitchFamily="18" charset="0"/>
                        </a:rPr>
                        <a:t>Analyses the events as they take place and also anticipates such events for the future. It uses data which has relevance to the future.</a:t>
                      </a:r>
                      <a:endParaRPr lang="en-US" dirty="0">
                        <a:latin typeface="Times New Roman" pitchFamily="18" charset="0"/>
                        <a:cs typeface="Times New Roman" pitchFamily="18" charset="0"/>
                      </a:endParaRPr>
                    </a:p>
                  </a:txBody>
                  <a:tcPr/>
                </a:tc>
              </a:tr>
              <a:tr h="384336">
                <a:tc>
                  <a:txBody>
                    <a:bodyPr/>
                    <a:lstStyle/>
                    <a:p>
                      <a:pPr algn="just"/>
                      <a:r>
                        <a:rPr lang="en-IN" b="1" dirty="0" smtClean="0">
                          <a:latin typeface="Times New Roman" pitchFamily="18" charset="0"/>
                          <a:cs typeface="Times New Roman" pitchFamily="18" charset="0"/>
                        </a:rPr>
                        <a:t>Period</a:t>
                      </a:r>
                      <a:endParaRPr lang="en-US" b="1" dirty="0">
                        <a:latin typeface="Times New Roman" pitchFamily="18" charset="0"/>
                        <a:cs typeface="Times New Roman" pitchFamily="18" charset="0"/>
                      </a:endParaRPr>
                    </a:p>
                  </a:txBody>
                  <a:tcPr/>
                </a:tc>
                <a:tc>
                  <a:txBody>
                    <a:bodyPr/>
                    <a:lstStyle/>
                    <a:p>
                      <a:pPr algn="just"/>
                      <a:r>
                        <a:rPr lang="en-US" sz="1800" dirty="0" smtClean="0">
                          <a:latin typeface="Times New Roman" panose="02020603050405020304" pitchFamily="18" charset="0"/>
                          <a:cs typeface="Times New Roman" panose="02020603050405020304" pitchFamily="18" charset="0"/>
                        </a:rPr>
                        <a:t>Reported on year-to-year basis. </a:t>
                      </a:r>
                      <a:endParaRPr lang="en-US" dirty="0">
                        <a:latin typeface="Times New Roman" pitchFamily="18" charset="0"/>
                        <a:cs typeface="Times New Roman" pitchFamily="18" charset="0"/>
                      </a:endParaRPr>
                    </a:p>
                  </a:txBody>
                  <a:tcPr/>
                </a:tc>
                <a:tc>
                  <a:txBody>
                    <a:bodyPr/>
                    <a:lstStyle/>
                    <a:p>
                      <a:pPr algn="just"/>
                      <a:r>
                        <a:rPr lang="en-US" sz="1800" dirty="0" smtClean="0">
                          <a:latin typeface="Times New Roman" panose="02020603050405020304" pitchFamily="18" charset="0"/>
                          <a:cs typeface="Times New Roman" panose="02020603050405020304" pitchFamily="18" charset="0"/>
                        </a:rPr>
                        <a:t>Weekly, fortnightly and even monthly reporting is used</a:t>
                      </a:r>
                      <a:endParaRPr lang="en-US" dirty="0">
                        <a:latin typeface="Times New Roman" pitchFamily="18" charset="0"/>
                        <a:cs typeface="Times New Roman" pitchFamily="18" charset="0"/>
                      </a:endParaRPr>
                    </a:p>
                  </a:txBody>
                  <a:tcPr/>
                </a:tc>
              </a:tr>
              <a:tr h="384336">
                <a:tc>
                  <a:txBody>
                    <a:bodyPr/>
                    <a:lstStyle/>
                    <a:p>
                      <a:pPr algn="just"/>
                      <a:r>
                        <a:rPr lang="en-US" sz="1800" b="1" dirty="0" smtClean="0">
                          <a:latin typeface="Times New Roman" panose="02020603050405020304" pitchFamily="18" charset="0"/>
                          <a:cs typeface="Times New Roman" panose="02020603050405020304" pitchFamily="18" charset="0"/>
                        </a:rPr>
                        <a:t>Accounting Standard</a:t>
                      </a:r>
                      <a:endParaRPr lang="en-US" b="1" dirty="0">
                        <a:latin typeface="Times New Roman" pitchFamily="18" charset="0"/>
                        <a:cs typeface="Times New Roman" pitchFamily="18" charset="0"/>
                      </a:endParaRPr>
                    </a:p>
                  </a:txBody>
                  <a:tcPr/>
                </a:tc>
                <a:tc>
                  <a:txBody>
                    <a:bodyPr/>
                    <a:lstStyle/>
                    <a:p>
                      <a:pPr algn="just"/>
                      <a:r>
                        <a:rPr lang="en-US" sz="1800" dirty="0" smtClean="0">
                          <a:latin typeface="Times New Roman" panose="02020603050405020304" pitchFamily="18" charset="0"/>
                          <a:cs typeface="Times New Roman" panose="02020603050405020304" pitchFamily="18" charset="0"/>
                        </a:rPr>
                        <a:t>Governed by the “generally accepted principles.”</a:t>
                      </a:r>
                      <a:endParaRPr lang="en-US" dirty="0">
                        <a:latin typeface="Times New Roman" pitchFamily="18" charset="0"/>
                        <a:cs typeface="Times New Roman" pitchFamily="18" charset="0"/>
                      </a:endParaRPr>
                    </a:p>
                  </a:txBody>
                  <a:tcPr/>
                </a:tc>
                <a:tc>
                  <a:txBody>
                    <a:bodyPr/>
                    <a:lstStyle/>
                    <a:p>
                      <a:pPr algn="just"/>
                      <a:r>
                        <a:rPr lang="en-US" dirty="0" smtClean="0">
                          <a:latin typeface="Times New Roman" pitchFamily="18" charset="0"/>
                          <a:cs typeface="Times New Roman" pitchFamily="18" charset="0"/>
                        </a:rPr>
                        <a:t>It is free to formulate its own rules, procedures and forms, since it is solely for internal consumption.</a:t>
                      </a:r>
                      <a:endParaRPr lang="en-US"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0" y="0"/>
          <a:ext cx="9101455" cy="5364480"/>
        </p:xfrm>
        <a:graphic>
          <a:graphicData uri="http://schemas.openxmlformats.org/drawingml/2006/table">
            <a:tbl>
              <a:tblPr firstRow="1" bandRow="1">
                <a:tableStyleId>{5C22544A-7EE6-4342-B048-85BDC9FD1C3A}</a:tableStyleId>
              </a:tblPr>
              <a:tblGrid>
                <a:gridCol w="1600200"/>
                <a:gridCol w="3234055"/>
                <a:gridCol w="4267200"/>
              </a:tblGrid>
              <a:tr h="914400">
                <a:tc>
                  <a:txBody>
                    <a:bodyPr/>
                    <a:lstStyle/>
                    <a:p>
                      <a:pPr algn="just"/>
                      <a:r>
                        <a:rPr lang="en-IN" sz="2200" b="1" dirty="0" smtClean="0">
                          <a:latin typeface="Times New Roman" pitchFamily="18" charset="0"/>
                          <a:cs typeface="Times New Roman" pitchFamily="18" charset="0"/>
                        </a:rPr>
                        <a:t>Parameters</a:t>
                      </a:r>
                      <a:endParaRPr lang="en-US" sz="2200" b="1" dirty="0">
                        <a:latin typeface="Times New Roman" pitchFamily="18" charset="0"/>
                        <a:cs typeface="Times New Roman" pitchFamily="18" charset="0"/>
                      </a:endParaRPr>
                    </a:p>
                  </a:txBody>
                  <a:tcPr/>
                </a:tc>
                <a:tc>
                  <a:txBody>
                    <a:bodyPr/>
                    <a:lstStyle/>
                    <a:p>
                      <a:pPr algn="just"/>
                      <a:r>
                        <a:rPr lang="en-IN" sz="2200" b="1" baseline="0" dirty="0" smtClean="0">
                          <a:latin typeface="Times New Roman" pitchFamily="18" charset="0"/>
                          <a:cs typeface="Times New Roman" pitchFamily="18" charset="0"/>
                        </a:rPr>
                        <a:t>Cost </a:t>
                      </a:r>
                      <a:r>
                        <a:rPr lang="en-IN" sz="2200" b="1" dirty="0" smtClean="0">
                          <a:latin typeface="Times New Roman" pitchFamily="18" charset="0"/>
                          <a:cs typeface="Times New Roman" pitchFamily="18" charset="0"/>
                        </a:rPr>
                        <a:t>Accounting</a:t>
                      </a:r>
                      <a:endParaRPr lang="en-US" sz="2200" b="1" dirty="0">
                        <a:latin typeface="Times New Roman" pitchFamily="18" charset="0"/>
                        <a:cs typeface="Times New Roman" pitchFamily="18" charset="0"/>
                      </a:endParaRPr>
                    </a:p>
                  </a:txBody>
                  <a:tcPr/>
                </a:tc>
                <a:tc>
                  <a:txBody>
                    <a:bodyPr/>
                    <a:lstStyle/>
                    <a:p>
                      <a:pPr algn="just"/>
                      <a:r>
                        <a:rPr lang="en-IN" sz="2200" b="1" dirty="0" smtClean="0">
                          <a:latin typeface="Times New Roman" pitchFamily="18" charset="0"/>
                          <a:cs typeface="Times New Roman" pitchFamily="18" charset="0"/>
                        </a:rPr>
                        <a:t>Management</a:t>
                      </a:r>
                      <a:r>
                        <a:rPr lang="en-IN" sz="2200" b="1" baseline="0" dirty="0" smtClean="0">
                          <a:latin typeface="Times New Roman" pitchFamily="18" charset="0"/>
                          <a:cs typeface="Times New Roman" pitchFamily="18" charset="0"/>
                        </a:rPr>
                        <a:t> </a:t>
                      </a:r>
                      <a:r>
                        <a:rPr lang="en-IN" sz="2200" b="1" dirty="0" smtClean="0">
                          <a:latin typeface="Times New Roman" pitchFamily="18" charset="0"/>
                          <a:cs typeface="Times New Roman" pitchFamily="18" charset="0"/>
                        </a:rPr>
                        <a:t>Accounting</a:t>
                      </a:r>
                      <a:endParaRPr lang="en-US" sz="2200" b="1" dirty="0">
                        <a:latin typeface="Times New Roman" pitchFamily="18" charset="0"/>
                        <a:cs typeface="Times New Roman" pitchFamily="18" charset="0"/>
                      </a:endParaRPr>
                    </a:p>
                  </a:txBody>
                  <a:tcPr/>
                </a:tc>
              </a:tr>
              <a:tr h="1066800">
                <a:tc>
                  <a:txBody>
                    <a:bodyPr/>
                    <a:lstStyle/>
                    <a:p>
                      <a:pPr algn="just"/>
                      <a:r>
                        <a:rPr lang="en-IN" b="1" dirty="0" smtClean="0">
                          <a:latin typeface="Times New Roman" pitchFamily="18" charset="0"/>
                          <a:cs typeface="Times New Roman" pitchFamily="18" charset="0"/>
                        </a:rPr>
                        <a:t>Objective</a:t>
                      </a:r>
                      <a:endParaRPr lang="en-US" b="1" dirty="0">
                        <a:latin typeface="Times New Roman" pitchFamily="18" charset="0"/>
                        <a:cs typeface="Times New Roman" pitchFamily="18" charset="0"/>
                      </a:endParaRPr>
                    </a:p>
                  </a:txBody>
                  <a:tcPr/>
                </a:tc>
                <a:tc>
                  <a:txBody>
                    <a:bodyPr/>
                    <a:lstStyle/>
                    <a:p>
                      <a:pPr algn="just"/>
                      <a:r>
                        <a:rPr lang="en-US" sz="1800" dirty="0" smtClean="0">
                          <a:latin typeface="Times New Roman" panose="02020603050405020304" pitchFamily="18" charset="0"/>
                          <a:cs typeface="Times New Roman" panose="02020603050405020304" pitchFamily="18" charset="0"/>
                        </a:rPr>
                        <a:t>To determine and record the cost of producing a product or providing a service.</a:t>
                      </a:r>
                      <a:endParaRPr lang="en-US" dirty="0">
                        <a:latin typeface="Times New Roman" pitchFamily="18" charset="0"/>
                        <a:cs typeface="Times New Roman" pitchFamily="18" charset="0"/>
                      </a:endParaRPr>
                    </a:p>
                  </a:txBody>
                  <a:tcPr/>
                </a:tc>
                <a:tc>
                  <a:txBody>
                    <a:bodyPr/>
                    <a:lstStyle/>
                    <a:p>
                      <a:pPr algn="just"/>
                      <a:r>
                        <a:rPr lang="en-US" dirty="0" smtClean="0">
                          <a:latin typeface="Times New Roman" pitchFamily="18" charset="0"/>
                          <a:cs typeface="Times New Roman" pitchFamily="18" charset="0"/>
                        </a:rPr>
                        <a:t>To provide info to the management for planning and coordinating the activities of the business.</a:t>
                      </a:r>
                      <a:r>
                        <a:rPr lang="en-US" sz="1800"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a:txBody>
                  <a:tcPr/>
                </a:tc>
              </a:tr>
              <a:tr h="914400">
                <a:tc>
                  <a:txBody>
                    <a:bodyPr/>
                    <a:lstStyle/>
                    <a:p>
                      <a:pPr algn="just"/>
                      <a:r>
                        <a:rPr lang="en-IN" sz="1800" b="1" dirty="0" smtClean="0">
                          <a:latin typeface="Times New Roman" pitchFamily="18" charset="0"/>
                          <a:cs typeface="Times New Roman" pitchFamily="18" charset="0"/>
                        </a:rPr>
                        <a:t>Nature</a:t>
                      </a:r>
                      <a:endParaRPr lang="en-US" b="1" dirty="0">
                        <a:latin typeface="Times New Roman" pitchFamily="18" charset="0"/>
                        <a:cs typeface="Times New Roman" pitchFamily="18" charset="0"/>
                      </a:endParaRPr>
                    </a:p>
                  </a:txBody>
                  <a:tcPr/>
                </a:tc>
                <a:tc>
                  <a:txBody>
                    <a:bodyPr/>
                    <a:lstStyle/>
                    <a:p>
                      <a:pPr algn="just"/>
                      <a:r>
                        <a:rPr lang="en-US" sz="1800" dirty="0" smtClean="0">
                          <a:latin typeface="Times New Roman" pitchFamily="18" charset="0"/>
                          <a:cs typeface="Times New Roman" pitchFamily="18" charset="0"/>
                        </a:rPr>
                        <a:t>Based on the past and present facts and figures.</a:t>
                      </a:r>
                      <a:endParaRPr lang="en-US" dirty="0">
                        <a:latin typeface="Times New Roman" pitchFamily="18" charset="0"/>
                        <a:cs typeface="Times New Roman" pitchFamily="18" charset="0"/>
                      </a:endParaRPr>
                    </a:p>
                  </a:txBody>
                  <a:tcPr/>
                </a:tc>
                <a:tc>
                  <a:txBody>
                    <a:bodyPr/>
                    <a:lstStyle/>
                    <a:p>
                      <a:pPr algn="just"/>
                      <a:r>
                        <a:rPr lang="en-US" sz="1800" dirty="0" smtClean="0">
                          <a:latin typeface="Times New Roman" pitchFamily="18" charset="0"/>
                          <a:cs typeface="Times New Roman" pitchFamily="18" charset="0"/>
                        </a:rPr>
                        <a:t>Deals with future projection and plans, on the basis of past and present cost data.</a:t>
                      </a:r>
                      <a:endParaRPr lang="en-US" dirty="0">
                        <a:latin typeface="Times New Roman" pitchFamily="18" charset="0"/>
                        <a:cs typeface="Times New Roman" pitchFamily="18" charset="0"/>
                      </a:endParaRPr>
                    </a:p>
                  </a:txBody>
                  <a:tcPr/>
                </a:tc>
              </a:tr>
              <a:tr h="914400">
                <a:tc>
                  <a:txBody>
                    <a:bodyPr/>
                    <a:lstStyle/>
                    <a:p>
                      <a:pPr algn="just"/>
                      <a:r>
                        <a:rPr lang="en-IN" b="1" dirty="0" smtClean="0">
                          <a:latin typeface="Times New Roman" pitchFamily="18" charset="0"/>
                          <a:cs typeface="Times New Roman" pitchFamily="18" charset="0"/>
                        </a:rPr>
                        <a:t>Principles</a:t>
                      </a:r>
                      <a:endParaRPr lang="en-US" b="1" dirty="0">
                        <a:latin typeface="Times New Roman" pitchFamily="18" charset="0"/>
                        <a:cs typeface="Times New Roman" pitchFamily="18" charset="0"/>
                      </a:endParaRPr>
                    </a:p>
                  </a:txBody>
                  <a:tcPr/>
                </a:tc>
                <a:tc>
                  <a:txBody>
                    <a:bodyPr/>
                    <a:lstStyle/>
                    <a:p>
                      <a:pPr algn="just"/>
                      <a:r>
                        <a:rPr lang="en-US" dirty="0" smtClean="0">
                          <a:latin typeface="Times New Roman" pitchFamily="18" charset="0"/>
                          <a:cs typeface="Times New Roman" pitchFamily="18" charset="0"/>
                        </a:rPr>
                        <a:t>Certain principles and procedures are followed.</a:t>
                      </a:r>
                      <a:endParaRPr lang="en-US" dirty="0">
                        <a:latin typeface="Times New Roman" pitchFamily="18" charset="0"/>
                        <a:cs typeface="Times New Roman" pitchFamily="18" charset="0"/>
                      </a:endParaRPr>
                    </a:p>
                  </a:txBody>
                  <a:tcPr/>
                </a:tc>
                <a:tc>
                  <a:txBody>
                    <a:bodyPr/>
                    <a:lstStyle/>
                    <a:p>
                      <a:pPr algn="just"/>
                      <a:r>
                        <a:rPr lang="en-US" sz="1800" dirty="0" smtClean="0">
                          <a:latin typeface="Times New Roman" panose="02020603050405020304" pitchFamily="18" charset="0"/>
                          <a:cs typeface="Times New Roman" panose="02020603050405020304" pitchFamily="18" charset="0"/>
                        </a:rPr>
                        <a:t>no such certain principles and procedures in management accounting.</a:t>
                      </a:r>
                      <a:endParaRPr lang="en-US" dirty="0">
                        <a:latin typeface="Times New Roman" pitchFamily="18" charset="0"/>
                        <a:cs typeface="Times New Roman" pitchFamily="18" charset="0"/>
                      </a:endParaRPr>
                    </a:p>
                  </a:txBody>
                  <a:tcPr/>
                </a:tc>
              </a:tr>
              <a:tr h="384336">
                <a:tc>
                  <a:txBody>
                    <a:bodyPr/>
                    <a:lstStyle/>
                    <a:p>
                      <a:pPr algn="just"/>
                      <a:r>
                        <a:rPr lang="en-IN" b="1" smtClean="0">
                          <a:latin typeface="Times New Roman" pitchFamily="18" charset="0"/>
                          <a:cs typeface="Times New Roman" pitchFamily="18" charset="0"/>
                        </a:rPr>
                        <a:t>Data</a:t>
                      </a:r>
                      <a:endParaRPr lang="en-US" b="1" dirty="0">
                        <a:latin typeface="Times New Roman" pitchFamily="18" charset="0"/>
                        <a:cs typeface="Times New Roman" pitchFamily="18" charset="0"/>
                      </a:endParaRPr>
                    </a:p>
                  </a:txBody>
                  <a:tcPr/>
                </a:tc>
                <a:tc>
                  <a:txBody>
                    <a:bodyPr/>
                    <a:lstStyle/>
                    <a:p>
                      <a:pPr algn="just"/>
                      <a:r>
                        <a:rPr lang="en-US" sz="1800" smtClean="0">
                          <a:latin typeface="Times New Roman" panose="02020603050405020304" pitchFamily="18" charset="0"/>
                          <a:cs typeface="Times New Roman" panose="02020603050405020304" pitchFamily="18" charset="0"/>
                        </a:rPr>
                        <a:t>Quantitative aspects is recorded in cost accounting . </a:t>
                      </a:r>
                      <a:endParaRPr lang="en-US" dirty="0">
                        <a:latin typeface="Times New Roman" pitchFamily="18" charset="0"/>
                        <a:cs typeface="Times New Roman" pitchFamily="18" charset="0"/>
                      </a:endParaRPr>
                    </a:p>
                  </a:txBody>
                  <a:tcPr/>
                </a:tc>
                <a:tc>
                  <a:txBody>
                    <a:bodyPr/>
                    <a:lstStyle/>
                    <a:p>
                      <a:pPr algn="just"/>
                      <a:r>
                        <a:rPr lang="en-IN" sz="1800" dirty="0" smtClean="0">
                          <a:latin typeface="Times New Roman" panose="02020603050405020304" pitchFamily="18" charset="0"/>
                          <a:cs typeface="Times New Roman" panose="02020603050405020304" pitchFamily="18" charset="0"/>
                        </a:rPr>
                        <a:t>Both quantitative and qualitative information.</a:t>
                      </a:r>
                      <a:endParaRPr lang="en-US" dirty="0">
                        <a:latin typeface="Times New Roman" pitchFamily="18" charset="0"/>
                        <a:cs typeface="Times New Roman" pitchFamily="18" charset="0"/>
                      </a:endParaRPr>
                    </a:p>
                  </a:txBody>
                  <a:tcPr/>
                </a:tc>
              </a:tr>
              <a:tr h="384336">
                <a:tc>
                  <a:txBody>
                    <a:bodyPr/>
                    <a:lstStyle/>
                    <a:p>
                      <a:pPr algn="just"/>
                      <a:r>
                        <a:rPr lang="en-US" sz="1800" b="1" smtClean="0">
                          <a:latin typeface="Times New Roman" panose="02020603050405020304" pitchFamily="18" charset="0"/>
                          <a:cs typeface="Times New Roman" panose="02020603050405020304" pitchFamily="18" charset="0"/>
                        </a:rPr>
                        <a:t>Parties</a:t>
                      </a:r>
                      <a:endParaRPr lang="en-US" b="1" dirty="0">
                        <a:latin typeface="Times New Roman" pitchFamily="18" charset="0"/>
                        <a:cs typeface="Times New Roman" pitchFamily="18" charset="0"/>
                      </a:endParaRPr>
                    </a:p>
                  </a:txBody>
                  <a:tcPr/>
                </a:tc>
                <a:tc>
                  <a:txBody>
                    <a:bodyPr/>
                    <a:lstStyle/>
                    <a:p>
                      <a:pPr algn="just"/>
                      <a:r>
                        <a:rPr lang="en-IN" sz="1800" dirty="0" smtClean="0">
                          <a:latin typeface="Times New Roman" panose="02020603050405020304" pitchFamily="18" charset="0"/>
                          <a:cs typeface="Times New Roman" panose="02020603050405020304" pitchFamily="18" charset="0"/>
                        </a:rPr>
                        <a:t>The facts and data are used by both internal and external parties.</a:t>
                      </a:r>
                      <a:endParaRPr lang="en-US" dirty="0">
                        <a:latin typeface="Times New Roman" pitchFamily="18" charset="0"/>
                        <a:cs typeface="Times New Roman" pitchFamily="18" charset="0"/>
                      </a:endParaRPr>
                    </a:p>
                  </a:txBody>
                  <a:tcPr/>
                </a:tc>
                <a:tc>
                  <a:txBody>
                    <a:bodyPr/>
                    <a:lstStyle/>
                    <a:p>
                      <a:pPr algn="just"/>
                      <a:r>
                        <a:rPr lang="en-IN" sz="1800" dirty="0" smtClean="0">
                          <a:latin typeface="Times New Roman" panose="02020603050405020304" pitchFamily="18" charset="0"/>
                          <a:cs typeface="Times New Roman" panose="02020603050405020304" pitchFamily="18" charset="0"/>
                        </a:rPr>
                        <a:t>The information furnished by management accounting is useful for internal usage.</a:t>
                      </a:r>
                      <a:endParaRPr lang="en-US" dirty="0">
                        <a:latin typeface="Times New Roman" pitchFamily="18" charset="0"/>
                        <a:cs typeface="Times New Roman" pitchFamily="18" charset="0"/>
                      </a:endParaRPr>
                    </a:p>
                  </a:txBody>
                  <a:tcPr/>
                </a:tc>
              </a:tr>
            </a:tbl>
          </a:graphicData>
        </a:graphic>
      </p:graphicFrame>
      <p:sp>
        <p:nvSpPr>
          <p:cNvPr id="3" name="Rectangle 2"/>
          <p:cNvSpPr/>
          <p:nvPr/>
        </p:nvSpPr>
        <p:spPr>
          <a:xfrm>
            <a:off x="76200" y="5613737"/>
            <a:ext cx="8915400" cy="1015663"/>
          </a:xfrm>
          <a:prstGeom prst="rect">
            <a:avLst/>
          </a:prstGeom>
        </p:spPr>
        <p:txBody>
          <a:bodyPr wrap="square">
            <a:spAutoFit/>
          </a:bodyPr>
          <a:lstStyle/>
          <a:p>
            <a:pPr algn="just"/>
            <a:r>
              <a:rPr lang="en-IN" sz="2000" b="1" i="1" dirty="0" smtClean="0">
                <a:latin typeface="Times New Roman" panose="02020603050405020304" pitchFamily="18" charset="0"/>
                <a:cs typeface="Times New Roman" panose="02020603050405020304" pitchFamily="18" charset="0"/>
              </a:rPr>
              <a:t>“Cost accounting evolved out of financial accounting while management accounting evolved out of cost accounting”. Both are complementary in nature; MA without cost accounting would lose its significance.</a:t>
            </a:r>
            <a:endParaRPr lang="en-US" sz="2000" b="1" i="1"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381000"/>
          </a:xfrm>
        </p:spPr>
        <p:txBody>
          <a:bodyPr>
            <a:normAutofit fontScale="90000"/>
          </a:bodyPr>
          <a:lstStyle/>
          <a:p>
            <a:r>
              <a:rPr lang="en-IN" sz="4000" b="1" dirty="0" smtClean="0">
                <a:latin typeface="Times New Roman" pitchFamily="18" charset="0"/>
                <a:cs typeface="Times New Roman" pitchFamily="18" charset="0"/>
              </a:rPr>
              <a:t>Tools and techniques of MA</a:t>
            </a:r>
            <a:endParaRPr lang="en-US" sz="4000" b="1" dirty="0">
              <a:latin typeface="Times New Roman" pitchFamily="18" charset="0"/>
              <a:cs typeface="Times New Roman" pitchFamily="18" charset="0"/>
            </a:endParaRPr>
          </a:p>
        </p:txBody>
      </p:sp>
      <p:sp>
        <p:nvSpPr>
          <p:cNvPr id="3" name="Content Placeholder 2"/>
          <p:cNvSpPr>
            <a:spLocks noGrp="1"/>
          </p:cNvSpPr>
          <p:nvPr>
            <p:ph idx="1"/>
          </p:nvPr>
        </p:nvSpPr>
        <p:spPr>
          <a:xfrm>
            <a:off x="152400" y="609601"/>
            <a:ext cx="8686800" cy="6095999"/>
          </a:xfrm>
        </p:spPr>
        <p:txBody>
          <a:bodyPr>
            <a:noAutofit/>
          </a:bodyPr>
          <a:lstStyle/>
          <a:p>
            <a:pPr algn="just">
              <a:buNone/>
            </a:pPr>
            <a:r>
              <a:rPr lang="en-IN" sz="2300" b="1" dirty="0" smtClean="0">
                <a:latin typeface="Times New Roman" pitchFamily="18" charset="0"/>
                <a:cs typeface="Times New Roman" pitchFamily="18" charset="0"/>
              </a:rPr>
              <a:t>1. Financial Planning: </a:t>
            </a:r>
            <a:r>
              <a:rPr lang="en-US" sz="2300" dirty="0" smtClean="0">
                <a:latin typeface="Times New Roman" pitchFamily="18" charset="0"/>
                <a:cs typeface="Times New Roman" pitchFamily="18" charset="0"/>
              </a:rPr>
              <a:t>It is the process of deciding in advance about the financial activities necessary for the organization to achieve the desired objectives. Includes long and short-term financial objectives, formulating financial policies and financial procedures etc. </a:t>
            </a:r>
            <a:endParaRPr lang="en-IN" sz="2300" b="1" dirty="0" smtClean="0">
              <a:latin typeface="Times New Roman" pitchFamily="18" charset="0"/>
              <a:cs typeface="Times New Roman" pitchFamily="18" charset="0"/>
            </a:endParaRPr>
          </a:p>
          <a:p>
            <a:pPr algn="just">
              <a:buNone/>
            </a:pPr>
            <a:r>
              <a:rPr lang="en-IN" sz="2300" b="1" dirty="0" smtClean="0">
                <a:latin typeface="Times New Roman" pitchFamily="18" charset="0"/>
                <a:cs typeface="Times New Roman" pitchFamily="18" charset="0"/>
              </a:rPr>
              <a:t>2. Financial Statement Analysis: </a:t>
            </a:r>
            <a:r>
              <a:rPr lang="en-US" sz="2300" dirty="0" smtClean="0">
                <a:latin typeface="Times New Roman" pitchFamily="18" charset="0"/>
                <a:cs typeface="Times New Roman" pitchFamily="18" charset="0"/>
              </a:rPr>
              <a:t>Making data more meaningful. Includes comparative and common size statement analysis, trend analysis, ratio analysis, etc.</a:t>
            </a:r>
            <a:endParaRPr lang="en-IN" sz="2300" dirty="0" smtClean="0">
              <a:latin typeface="Times New Roman" pitchFamily="18" charset="0"/>
              <a:cs typeface="Times New Roman" pitchFamily="18" charset="0"/>
            </a:endParaRPr>
          </a:p>
          <a:p>
            <a:pPr algn="just">
              <a:buNone/>
            </a:pPr>
            <a:r>
              <a:rPr lang="en-IN" sz="2300" b="1" dirty="0" smtClean="0">
                <a:latin typeface="Times New Roman" pitchFamily="18" charset="0"/>
                <a:cs typeface="Times New Roman" pitchFamily="18" charset="0"/>
              </a:rPr>
              <a:t>3. Decision Making: </a:t>
            </a:r>
            <a:r>
              <a:rPr lang="en-US" sz="2300" dirty="0" smtClean="0">
                <a:latin typeface="Times New Roman" pitchFamily="18" charset="0"/>
                <a:cs typeface="Times New Roman" pitchFamily="18" charset="0"/>
              </a:rPr>
              <a:t>Management accounting helps the management through the techniques of marginal costing, differential costing, capital budgeting, discounted cash flow etc. to select the best alternative which will maximize the value of the business. </a:t>
            </a:r>
          </a:p>
          <a:p>
            <a:pPr algn="just">
              <a:buNone/>
            </a:pPr>
            <a:r>
              <a:rPr lang="en-IN" sz="2300" b="1" dirty="0" smtClean="0">
                <a:latin typeface="Times New Roman" pitchFamily="18" charset="0"/>
                <a:cs typeface="Times New Roman" pitchFamily="18" charset="0"/>
              </a:rPr>
              <a:t>4. Control Techniques: </a:t>
            </a:r>
            <a:r>
              <a:rPr lang="en-US" sz="2300" dirty="0" smtClean="0">
                <a:latin typeface="Times New Roman" panose="02020603050405020304" pitchFamily="18" charset="0"/>
                <a:cs typeface="Times New Roman" panose="02020603050405020304" pitchFamily="18" charset="0"/>
              </a:rPr>
              <a:t>Standard costing and budgetary control.</a:t>
            </a:r>
            <a:endParaRPr lang="en-IN" sz="2300" dirty="0" smtClean="0">
              <a:latin typeface="Times New Roman" panose="02020603050405020304" pitchFamily="18" charset="0"/>
              <a:cs typeface="Times New Roman" panose="02020603050405020304" pitchFamily="18" charset="0"/>
            </a:endParaRPr>
          </a:p>
          <a:p>
            <a:pPr algn="just">
              <a:buNone/>
            </a:pPr>
            <a:r>
              <a:rPr lang="en-IN" sz="2300" b="1" dirty="0" smtClean="0">
                <a:latin typeface="Times New Roman" panose="02020603050405020304" pitchFamily="18" charset="0"/>
                <a:cs typeface="Times New Roman" panose="02020603050405020304" pitchFamily="18" charset="0"/>
              </a:rPr>
              <a:t>5. Statistical and graphical techniques</a:t>
            </a:r>
            <a:r>
              <a:rPr lang="en-US" sz="2300" b="1" dirty="0" smtClean="0">
                <a:latin typeface="Times New Roman" panose="02020603050405020304" pitchFamily="18" charset="0"/>
                <a:cs typeface="Times New Roman" panose="02020603050405020304" pitchFamily="18" charset="0"/>
              </a:rPr>
              <a:t>: </a:t>
            </a:r>
            <a:r>
              <a:rPr lang="en-US" sz="2300" dirty="0" smtClean="0">
                <a:latin typeface="Times New Roman" panose="02020603050405020304" pitchFamily="18" charset="0"/>
                <a:cs typeface="Times New Roman" panose="02020603050405020304" pitchFamily="18" charset="0"/>
              </a:rPr>
              <a:t>To make the information more meaningful and presentation of the same to help the management.</a:t>
            </a:r>
          </a:p>
          <a:p>
            <a:pPr algn="just">
              <a:buNone/>
            </a:pPr>
            <a:r>
              <a:rPr lang="en-US" sz="2300" b="1" dirty="0" smtClean="0">
                <a:latin typeface="Times New Roman" panose="02020603050405020304" pitchFamily="18" charset="0"/>
                <a:cs typeface="Times New Roman" panose="02020603050405020304" pitchFamily="18" charset="0"/>
              </a:rPr>
              <a:t>6. </a:t>
            </a:r>
            <a:r>
              <a:rPr lang="en-IN" sz="2300" b="1" dirty="0" smtClean="0">
                <a:latin typeface="Times New Roman" panose="02020603050405020304" pitchFamily="18" charset="0"/>
                <a:cs typeface="Times New Roman" panose="02020603050405020304" pitchFamily="18" charset="0"/>
              </a:rPr>
              <a:t>Reporting:</a:t>
            </a:r>
            <a:r>
              <a:rPr lang="en-US" sz="2300" dirty="0" smtClean="0">
                <a:latin typeface="Times New Roman" panose="02020603050405020304" pitchFamily="18" charset="0"/>
                <a:cs typeface="Times New Roman" panose="02020603050405020304" pitchFamily="18" charset="0"/>
              </a:rPr>
              <a:t> Prepares reports for different levels of management by proper selection and organization of data.</a:t>
            </a:r>
            <a:endParaRPr lang="en-IN" sz="2300" dirty="0" smtClean="0">
              <a:latin typeface="Times New Roman" panose="02020603050405020304" pitchFamily="18" charset="0"/>
              <a:cs typeface="Times New Roman" panose="02020603050405020304" pitchFamily="18" charset="0"/>
            </a:endParaRPr>
          </a:p>
          <a:p>
            <a:pPr algn="just">
              <a:buNone/>
            </a:pPr>
            <a:endParaRPr lang="en-IN" sz="2300" b="1" dirty="0" smtClean="0">
              <a:latin typeface="Times New Roman" pitchFamily="18" charset="0"/>
              <a:cs typeface="Times New Roman" pitchFamily="18" charset="0"/>
            </a:endParaRPr>
          </a:p>
          <a:p>
            <a:pPr algn="just">
              <a:buNone/>
            </a:pPr>
            <a:endParaRPr lang="en-US" sz="23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534400" cy="792162"/>
          </a:xfrm>
        </p:spPr>
        <p:txBody>
          <a:bodyPr>
            <a:normAutofit/>
          </a:bodyPr>
          <a:lstStyle/>
          <a:p>
            <a:r>
              <a:rPr lang="en-IN" sz="3800" b="1" dirty="0" smtClean="0">
                <a:latin typeface="Times New Roman" pitchFamily="18" charset="0"/>
                <a:cs typeface="Times New Roman" pitchFamily="18" charset="0"/>
              </a:rPr>
              <a:t>Limitation of management accounting</a:t>
            </a:r>
            <a:endParaRPr lang="en-US" sz="3800" b="1" dirty="0">
              <a:latin typeface="Times New Roman" pitchFamily="18" charset="0"/>
              <a:cs typeface="Times New Roman" pitchFamily="18" charset="0"/>
            </a:endParaRPr>
          </a:p>
        </p:txBody>
      </p:sp>
      <p:sp>
        <p:nvSpPr>
          <p:cNvPr id="3" name="Content Placeholder 2"/>
          <p:cNvSpPr>
            <a:spLocks noGrp="1"/>
          </p:cNvSpPr>
          <p:nvPr>
            <p:ph idx="1"/>
          </p:nvPr>
        </p:nvSpPr>
        <p:spPr>
          <a:xfrm>
            <a:off x="228600" y="990600"/>
            <a:ext cx="8686800" cy="5638799"/>
          </a:xfrm>
        </p:spPr>
        <p:txBody>
          <a:bodyPr>
            <a:normAutofit fontScale="55000" lnSpcReduction="20000"/>
          </a:bodyPr>
          <a:lstStyle/>
          <a:p>
            <a:pPr marL="742950" indent="-742950" algn="just">
              <a:buAutoNum type="arabicPeriod"/>
            </a:pPr>
            <a:r>
              <a:rPr lang="en-IN" sz="4000" b="1" dirty="0" smtClean="0">
                <a:latin typeface="Times New Roman" panose="02020603050405020304" pitchFamily="18" charset="0"/>
                <a:cs typeface="Times New Roman" panose="02020603050405020304" pitchFamily="18" charset="0"/>
              </a:rPr>
              <a:t>Limitations of basic records: </a:t>
            </a:r>
            <a:r>
              <a:rPr lang="en-IN" sz="4000" dirty="0" smtClean="0">
                <a:latin typeface="Times New Roman" panose="02020603050405020304" pitchFamily="18" charset="0"/>
                <a:cs typeface="Times New Roman" panose="02020603050405020304" pitchFamily="18" charset="0"/>
              </a:rPr>
              <a:t>Management accounting  takes into consideration the past records provided by the financial accounting and cost accounting, while making decisions for the future.</a:t>
            </a:r>
          </a:p>
          <a:p>
            <a:pPr marL="742950" indent="-742950" algn="just">
              <a:buAutoNum type="arabicPeriod"/>
            </a:pPr>
            <a:r>
              <a:rPr lang="en-IN" sz="4000" b="1" dirty="0" smtClean="0">
                <a:latin typeface="Times New Roman" panose="02020603050405020304" pitchFamily="18" charset="0"/>
                <a:cs typeface="Times New Roman" panose="02020603050405020304" pitchFamily="18" charset="0"/>
              </a:rPr>
              <a:t>Lack of knowledge and understanding of the related subjects: </a:t>
            </a:r>
            <a:r>
              <a:rPr lang="en-IN" sz="4000" dirty="0" smtClean="0">
                <a:latin typeface="Times New Roman" panose="02020603050405020304" pitchFamily="18" charset="0"/>
                <a:cs typeface="Times New Roman" panose="02020603050405020304" pitchFamily="18" charset="0"/>
              </a:rPr>
              <a:t>For taking a sound decision it is necessary that management must have knowledge of various field like accounting, statistics, economics, taxation, production engineering and so on.</a:t>
            </a:r>
          </a:p>
          <a:p>
            <a:pPr marL="742950" indent="-742950" algn="just">
              <a:buAutoNum type="arabicPeriod"/>
            </a:pPr>
            <a:r>
              <a:rPr lang="en-IN" sz="4000" b="1" dirty="0" smtClean="0">
                <a:latin typeface="Times New Roman" panose="02020603050405020304" pitchFamily="18" charset="0"/>
                <a:cs typeface="Times New Roman" panose="02020603050405020304" pitchFamily="18" charset="0"/>
              </a:rPr>
              <a:t>Intuitive decision: </a:t>
            </a:r>
            <a:r>
              <a:rPr lang="en-IN" sz="4000" dirty="0" smtClean="0">
                <a:latin typeface="Times New Roman" panose="02020603050405020304" pitchFamily="18" charset="0"/>
                <a:cs typeface="Times New Roman" panose="02020603050405020304" pitchFamily="18" charset="0"/>
              </a:rPr>
              <a:t>Because of simplicity and personal factors, the management has a tendency to take persistent intuitive decision-making.</a:t>
            </a:r>
          </a:p>
          <a:p>
            <a:pPr marL="742950" indent="-742950" algn="just">
              <a:buAutoNum type="arabicPeriod"/>
            </a:pPr>
            <a:r>
              <a:rPr lang="en-IN" sz="4000" b="1" dirty="0" smtClean="0">
                <a:latin typeface="Times New Roman" panose="02020603050405020304" pitchFamily="18" charset="0"/>
                <a:cs typeface="Times New Roman" panose="02020603050405020304" pitchFamily="18" charset="0"/>
              </a:rPr>
              <a:t>Lack of continuity and coordination: </a:t>
            </a:r>
            <a:r>
              <a:rPr lang="en-IN" sz="4000" dirty="0" smtClean="0">
                <a:latin typeface="Times New Roman" panose="02020603050405020304" pitchFamily="18" charset="0"/>
                <a:cs typeface="Times New Roman" panose="02020603050405020304" pitchFamily="18" charset="0"/>
              </a:rPr>
              <a:t>In order to make the conclusions drawn by management accountant meaningful, they must be implemented in the org. at various level. But in actual practice they loose their significance because is it not feasible to implement all conclusions.</a:t>
            </a:r>
          </a:p>
          <a:p>
            <a:pPr marL="742950" indent="-742950" algn="just">
              <a:buAutoNum type="arabicPeriod"/>
            </a:pPr>
            <a:r>
              <a:rPr lang="en-IN" sz="4000" b="1" dirty="0" smtClean="0">
                <a:latin typeface="Times New Roman" panose="02020603050405020304" pitchFamily="18" charset="0"/>
                <a:cs typeface="Times New Roman" panose="02020603050405020304" pitchFamily="18" charset="0"/>
              </a:rPr>
              <a:t>No substitute of administration: </a:t>
            </a:r>
            <a:r>
              <a:rPr lang="en-IN" sz="4000" dirty="0" smtClean="0">
                <a:latin typeface="Times New Roman" panose="02020603050405020304" pitchFamily="18" charset="0"/>
                <a:cs typeface="Times New Roman" panose="02020603050405020304" pitchFamily="18" charset="0"/>
              </a:rPr>
              <a:t>Techniques and tools suggested by MA are not alternatives or substitutes of good administration but in fact these are only to supplement the sound management and administration.</a:t>
            </a:r>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610600" cy="533400"/>
          </a:xfrm>
        </p:spPr>
        <p:txBody>
          <a:bodyPr>
            <a:noAutofit/>
          </a:bodyPr>
          <a:lstStyle/>
          <a:p>
            <a:r>
              <a:rPr lang="en-US" sz="2800" b="1" dirty="0" smtClean="0">
                <a:latin typeface="Times New Roman" pitchFamily="18" charset="0"/>
                <a:cs typeface="Times New Roman" pitchFamily="18" charset="0"/>
              </a:rPr>
              <a:t>Installation process of Management Accounting system</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152400" y="685800"/>
            <a:ext cx="8763000" cy="6019800"/>
          </a:xfrm>
        </p:spPr>
        <p:txBody>
          <a:bodyPr>
            <a:noAutofit/>
          </a:bodyPr>
          <a:lstStyle/>
          <a:p>
            <a:pPr algn="just">
              <a:buNone/>
            </a:pPr>
            <a:r>
              <a:rPr lang="en-US" sz="2400" dirty="0" smtClean="0">
                <a:latin typeface="Times New Roman" pitchFamily="18" charset="0"/>
                <a:cs typeface="Times New Roman" pitchFamily="18" charset="0"/>
              </a:rPr>
              <a:t>Essential steps required for installation of an efficient and effective MA system:</a:t>
            </a:r>
          </a:p>
          <a:p>
            <a:pPr marL="742950" indent="-742950" algn="just">
              <a:buNone/>
            </a:pPr>
            <a:r>
              <a:rPr lang="en-US" sz="2400" dirty="0" smtClean="0">
                <a:latin typeface="Times New Roman" pitchFamily="18" charset="0"/>
                <a:cs typeface="Times New Roman" pitchFamily="18" charset="0"/>
              </a:rPr>
              <a:t>1.An </a:t>
            </a:r>
            <a:r>
              <a:rPr lang="en-US" sz="2400" b="1" i="1" dirty="0" smtClean="0">
                <a:latin typeface="Times New Roman" pitchFamily="18" charset="0"/>
                <a:cs typeface="Times New Roman" pitchFamily="18" charset="0"/>
              </a:rPr>
              <a:t>appropriate organizational manual</a:t>
            </a:r>
            <a:r>
              <a:rPr lang="en-US" sz="2400" dirty="0" smtClean="0">
                <a:latin typeface="Times New Roman" pitchFamily="18" charset="0"/>
                <a:cs typeface="Times New Roman" pitchFamily="18" charset="0"/>
              </a:rPr>
              <a:t> should be prepared and adopted. The manual defines and confines explicitly the scope of authority of each executive in the organization.</a:t>
            </a:r>
          </a:p>
          <a:p>
            <a:pPr marL="742950" indent="-742950" algn="just">
              <a:buNone/>
            </a:pPr>
            <a:r>
              <a:rPr lang="en-US" sz="2400" dirty="0" smtClean="0">
                <a:latin typeface="Times New Roman" pitchFamily="18" charset="0"/>
                <a:cs typeface="Times New Roman" pitchFamily="18" charset="0"/>
              </a:rPr>
              <a:t>2.The </a:t>
            </a:r>
            <a:r>
              <a:rPr lang="en-US" sz="2400" b="1" i="1" dirty="0" smtClean="0">
                <a:latin typeface="Times New Roman" pitchFamily="18" charset="0"/>
                <a:cs typeface="Times New Roman" pitchFamily="18" charset="0"/>
              </a:rPr>
              <a:t>requisite staff</a:t>
            </a:r>
            <a:r>
              <a:rPr lang="en-US" sz="2400" dirty="0" smtClean="0">
                <a:latin typeface="Times New Roman" pitchFamily="18" charset="0"/>
                <a:cs typeface="Times New Roman" pitchFamily="18" charset="0"/>
              </a:rPr>
              <a:t> will have to be recruited, trained and developed.</a:t>
            </a:r>
          </a:p>
          <a:p>
            <a:pPr marL="742950" indent="-742950" algn="just">
              <a:buNone/>
            </a:pPr>
            <a:r>
              <a:rPr lang="en-US" sz="2400" dirty="0" smtClean="0">
                <a:latin typeface="Times New Roman" pitchFamily="18" charset="0"/>
                <a:cs typeface="Times New Roman" pitchFamily="18" charset="0"/>
              </a:rPr>
              <a:t>3.</a:t>
            </a:r>
            <a:r>
              <a:rPr lang="en-US" sz="2400" b="1" i="1" dirty="0" smtClean="0">
                <a:latin typeface="Times New Roman" pitchFamily="18" charset="0"/>
                <a:cs typeface="Times New Roman" pitchFamily="18" charset="0"/>
              </a:rPr>
              <a:t>Appropriate forms</a:t>
            </a:r>
            <a:r>
              <a:rPr lang="en-US" sz="2400" dirty="0" smtClean="0">
                <a:latin typeface="Times New Roman" pitchFamily="18" charset="0"/>
                <a:cs typeface="Times New Roman" pitchFamily="18" charset="0"/>
              </a:rPr>
              <a:t>, </a:t>
            </a:r>
            <a:r>
              <a:rPr lang="en-US" sz="2400" b="1" i="1" dirty="0" smtClean="0">
                <a:latin typeface="Times New Roman" pitchFamily="18" charset="0"/>
                <a:cs typeface="Times New Roman" pitchFamily="18" charset="0"/>
              </a:rPr>
              <a:t>returns</a:t>
            </a:r>
            <a:r>
              <a:rPr lang="en-US" sz="2400" dirty="0" smtClean="0">
                <a:latin typeface="Times New Roman" pitchFamily="18" charset="0"/>
                <a:cs typeface="Times New Roman" pitchFamily="18" charset="0"/>
              </a:rPr>
              <a:t>, etc should be designed, prepared and made available.</a:t>
            </a:r>
          </a:p>
          <a:p>
            <a:pPr marL="742950" indent="-742950" algn="just">
              <a:buNone/>
            </a:pPr>
            <a:r>
              <a:rPr lang="en-US" sz="2400" dirty="0" smtClean="0">
                <a:latin typeface="Times New Roman" pitchFamily="18" charset="0"/>
                <a:cs typeface="Times New Roman" pitchFamily="18" charset="0"/>
              </a:rPr>
              <a:t>4. Classification and codification of account.</a:t>
            </a:r>
          </a:p>
          <a:p>
            <a:pPr marL="742950" indent="-742950" algn="just">
              <a:buNone/>
            </a:pPr>
            <a:r>
              <a:rPr lang="en-US" sz="2400" dirty="0" smtClean="0">
                <a:latin typeface="Times New Roman" pitchFamily="18" charset="0"/>
                <a:cs typeface="Times New Roman" pitchFamily="18" charset="0"/>
              </a:rPr>
              <a:t>5.Developing a suitable system for the integration of cost and financial data.</a:t>
            </a:r>
          </a:p>
          <a:p>
            <a:pPr marL="742950" indent="-742950" algn="just">
              <a:buNone/>
            </a:pPr>
            <a:r>
              <a:rPr lang="en-US" sz="2400" dirty="0" smtClean="0">
                <a:latin typeface="Times New Roman" pitchFamily="18" charset="0"/>
                <a:cs typeface="Times New Roman" pitchFamily="18" charset="0"/>
              </a:rPr>
              <a:t>6.Setting up a suitable system of budgetary control, and setting up standards and introducing standard costing techniques.</a:t>
            </a:r>
          </a:p>
          <a:p>
            <a:pPr marL="742950" indent="-742950" algn="just">
              <a:buNone/>
            </a:pPr>
            <a:r>
              <a:rPr lang="en-US" sz="2400" dirty="0" smtClean="0">
                <a:latin typeface="Times New Roman" pitchFamily="18" charset="0"/>
                <a:cs typeface="Times New Roman" pitchFamily="18" charset="0"/>
              </a:rPr>
              <a:t>7. Setting up of cost, budget and profit </a:t>
            </a:r>
            <a:r>
              <a:rPr lang="en-US" sz="2400" dirty="0" err="1" smtClean="0">
                <a:latin typeface="Times New Roman" pitchFamily="18" charset="0"/>
                <a:cs typeface="Times New Roman" pitchFamily="18" charset="0"/>
              </a:rPr>
              <a:t>centres</a:t>
            </a:r>
            <a:r>
              <a:rPr lang="en-US" sz="2400" dirty="0" smtClean="0">
                <a:latin typeface="Times New Roman" pitchFamily="18" charset="0"/>
                <a:cs typeface="Times New Roman" pitchFamily="18" charset="0"/>
              </a:rPr>
              <a:t>, and introduction of operational research. </a:t>
            </a:r>
            <a:endParaRPr lang="en-US" sz="24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323</TotalTime>
  <Words>1829</Words>
  <Application>Microsoft Office PowerPoint</Application>
  <PresentationFormat>On-screen Show (4:3)</PresentationFormat>
  <Paragraphs>137</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Introduction to Management Accounting</vt:lpstr>
      <vt:lpstr>Definitions</vt:lpstr>
      <vt:lpstr>Meaning and definition of MA</vt:lpstr>
      <vt:lpstr>Continued....</vt:lpstr>
      <vt:lpstr>Continued....</vt:lpstr>
      <vt:lpstr>Nature of management accounting</vt:lpstr>
      <vt:lpstr>Scope of MA</vt:lpstr>
      <vt:lpstr>PowerPoint Presentation</vt:lpstr>
      <vt:lpstr>Objectives of management accounting</vt:lpstr>
      <vt:lpstr>Role and functions of MA</vt:lpstr>
      <vt:lpstr>PowerPoint Presentation</vt:lpstr>
      <vt:lpstr>PowerPoint Presentation</vt:lpstr>
      <vt:lpstr>PowerPoint Presentation</vt:lpstr>
      <vt:lpstr>Tools and techniques of MA</vt:lpstr>
      <vt:lpstr>Limitation of management accounting</vt:lpstr>
      <vt:lpstr>Installation process of Management Accounting system</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Management Accounting</dc:title>
  <dc:creator>hp</dc:creator>
  <cp:lastModifiedBy>ibs</cp:lastModifiedBy>
  <cp:revision>104</cp:revision>
  <dcterms:created xsi:type="dcterms:W3CDTF">2006-08-16T00:00:00Z</dcterms:created>
  <dcterms:modified xsi:type="dcterms:W3CDTF">2026-07-15T05:29:32Z</dcterms:modified>
</cp:coreProperties>
</file>