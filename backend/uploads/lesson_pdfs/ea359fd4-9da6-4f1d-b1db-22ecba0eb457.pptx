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76" r:id="rId4"/>
    <p:sldId id="277" r:id="rId5"/>
    <p:sldId id="278" r:id="rId6"/>
    <p:sldId id="279" r:id="rId7"/>
    <p:sldId id="287" r:id="rId8"/>
    <p:sldId id="282" r:id="rId9"/>
    <p:sldId id="283" r:id="rId10"/>
    <p:sldId id="284" r:id="rId11"/>
    <p:sldId id="285" r:id="rId12"/>
    <p:sldId id="286" r:id="rId13"/>
    <p:sldId id="280" r:id="rId14"/>
    <p:sldId id="288" r:id="rId15"/>
    <p:sldId id="289" r:id="rId16"/>
    <p:sldId id="290" r:id="rId17"/>
    <p:sldId id="291" r:id="rId18"/>
    <p:sldId id="292" r:id="rId19"/>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70" d="100"/>
          <a:sy n="70" d="100"/>
        </p:scale>
        <p:origin x="1386" y="7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07-Aug-25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07-Aug-25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07-Aug-25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07-Aug-25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07-Aug-25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07-Aug-25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07-Aug-25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07-Aug-25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07-Aug-25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07-Aug-25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07-Aug-25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07-Aug-25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a:bodyPr>
          <a:lstStyle/>
          <a:p>
            <a:r>
              <a:rPr lang="en-IN" b="1" dirty="0" smtClean="0">
                <a:latin typeface="Times New Roman" pitchFamily="18" charset="0"/>
                <a:cs typeface="Times New Roman" pitchFamily="18" charset="0"/>
              </a:rPr>
              <a:t>Classification of cost</a:t>
            </a:r>
            <a:endParaRPr lang="en-US" b="1" dirty="0">
              <a:latin typeface="Times New Roman" pitchFamily="18" charset="0"/>
              <a:cs typeface="Times New Roman" pitchFamily="18" charset="0"/>
            </a:endParaRPr>
          </a:p>
        </p:txBody>
      </p:sp>
      <p:sp>
        <p:nvSpPr>
          <p:cNvPr id="3" name="Subtitle 2"/>
          <p:cNvSpPr>
            <a:spLocks noGrp="1"/>
          </p:cNvSpPr>
          <p:nvPr>
            <p:ph type="subTitle" idx="1"/>
          </p:nvPr>
        </p:nvSpPr>
        <p:spPr/>
        <p:txBody>
          <a:bodyPr/>
          <a:lstStyle/>
          <a:p>
            <a:endParaRPr lang="en-IN" dirty="0" smtClean="0"/>
          </a:p>
          <a:p>
            <a:endParaRPr lang="en-IN" dirty="0" smtClean="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0"/>
            <a:ext cx="8229600" cy="533400"/>
          </a:xfrm>
        </p:spPr>
        <p:txBody>
          <a:bodyPr>
            <a:noAutofit/>
          </a:bodyPr>
          <a:lstStyle/>
          <a:p>
            <a:r>
              <a:rPr lang="en-IN" sz="3800" b="1" dirty="0" smtClean="0">
                <a:latin typeface="Times New Roman" pitchFamily="18" charset="0"/>
                <a:cs typeface="Times New Roman" pitchFamily="18" charset="0"/>
              </a:rPr>
              <a:t>Definitions</a:t>
            </a:r>
            <a:endParaRPr lang="en-US" sz="3800" b="1" dirty="0">
              <a:latin typeface="Times New Roman" pitchFamily="18" charset="0"/>
              <a:cs typeface="Times New Roman" pitchFamily="18" charset="0"/>
            </a:endParaRPr>
          </a:p>
        </p:txBody>
      </p:sp>
      <p:sp>
        <p:nvSpPr>
          <p:cNvPr id="4" name="Content Placeholder 2">
            <a:extLst>
              <a:ext uri="{FF2B5EF4-FFF2-40B4-BE49-F238E27FC236}">
                <a16:creationId xmlns:a16="http://schemas.microsoft.com/office/drawing/2014/main" xmlns="" id="{89419757-68E4-A5F7-616C-AA65E0C734F0}"/>
              </a:ext>
            </a:extLst>
          </p:cNvPr>
          <p:cNvSpPr>
            <a:spLocks noGrp="1"/>
          </p:cNvSpPr>
          <p:nvPr>
            <p:ph idx="1"/>
          </p:nvPr>
        </p:nvSpPr>
        <p:spPr>
          <a:xfrm>
            <a:off x="152400" y="838200"/>
            <a:ext cx="8610600" cy="5943600"/>
          </a:xfrm>
          <a:ln>
            <a:solidFill>
              <a:schemeClr val="bg1"/>
            </a:solidFill>
          </a:ln>
        </p:spPr>
        <p:style>
          <a:lnRef idx="2">
            <a:schemeClr val="dk1"/>
          </a:lnRef>
          <a:fillRef idx="1">
            <a:schemeClr val="lt1"/>
          </a:fillRef>
          <a:effectRef idx="0">
            <a:schemeClr val="dk1"/>
          </a:effectRef>
          <a:fontRef idx="minor">
            <a:schemeClr val="dk1"/>
          </a:fontRef>
        </p:style>
        <p:txBody>
          <a:bodyPr>
            <a:noAutofit/>
          </a:bodyPr>
          <a:lstStyle/>
          <a:p>
            <a:pPr marL="0" indent="0" algn="just">
              <a:buNone/>
            </a:pPr>
            <a:r>
              <a:rPr lang="en-US" sz="2400" b="1" dirty="0" smtClean="0">
                <a:latin typeface="Times New Roman" pitchFamily="18" charset="0"/>
                <a:cs typeface="Times New Roman" pitchFamily="18" charset="0"/>
              </a:rPr>
              <a:t>Cost:</a:t>
            </a:r>
            <a:r>
              <a:rPr lang="en-US" sz="2400" dirty="0" smtClean="0">
                <a:latin typeface="Times New Roman" pitchFamily="18" charset="0"/>
                <a:cs typeface="Times New Roman" pitchFamily="18" charset="0"/>
              </a:rPr>
              <a:t> Cost is the amount of resource given up in exchange for some goods or services. The resources given up are money or money’s equivalent expressed in monetary units. </a:t>
            </a:r>
          </a:p>
          <a:p>
            <a:pPr marL="0" indent="0" algn="just">
              <a:buNone/>
            </a:pPr>
            <a:r>
              <a:rPr lang="en-US" sz="2400" b="1" dirty="0" smtClean="0">
                <a:latin typeface="Times New Roman" pitchFamily="18" charset="0"/>
                <a:cs typeface="Times New Roman" pitchFamily="18" charset="0"/>
              </a:rPr>
              <a:t>The Chartered Institute of Management Accountants, London defines cost as</a:t>
            </a:r>
            <a:r>
              <a:rPr lang="en-US" sz="2400" dirty="0" smtClean="0">
                <a:latin typeface="Times New Roman" pitchFamily="18" charset="0"/>
                <a:cs typeface="Times New Roman" pitchFamily="18" charset="0"/>
              </a:rPr>
              <a:t> “the amount of expenditure (actual or notional) incurred on, or attributable to a specified thing or activity”. </a:t>
            </a:r>
          </a:p>
          <a:p>
            <a:pPr marL="0" indent="0" algn="just">
              <a:buNone/>
            </a:pPr>
            <a:r>
              <a:rPr lang="en-US" sz="2400" b="1" dirty="0" smtClean="0">
                <a:latin typeface="Times New Roman" pitchFamily="18" charset="0"/>
                <a:cs typeface="Times New Roman" pitchFamily="18" charset="0"/>
              </a:rPr>
              <a:t>Costing</a:t>
            </a:r>
            <a:r>
              <a:rPr lang="en-US" sz="2400" dirty="0" smtClean="0">
                <a:latin typeface="Times New Roman" pitchFamily="18" charset="0"/>
                <a:cs typeface="Times New Roman" pitchFamily="18" charset="0"/>
              </a:rPr>
              <a:t>: It is the process of ascertaining the cost. It consists of principles and rules, governing the procedure of finding out the costs of goods/ services.</a:t>
            </a:r>
          </a:p>
          <a:p>
            <a:pPr marL="0" indent="0" algn="just">
              <a:buNone/>
            </a:pPr>
            <a:r>
              <a:rPr lang="en-US" sz="2400" b="1" dirty="0" smtClean="0">
                <a:latin typeface="Times New Roman" pitchFamily="18" charset="0"/>
                <a:cs typeface="Times New Roman" pitchFamily="18" charset="0"/>
              </a:rPr>
              <a:t>Cost Accounting:</a:t>
            </a:r>
            <a:r>
              <a:rPr lang="en-US" sz="2400" dirty="0" smtClean="0">
                <a:latin typeface="Times New Roman" pitchFamily="18" charset="0"/>
                <a:cs typeface="Times New Roman" pitchFamily="18" charset="0"/>
              </a:rPr>
              <a:t> It is a specialized branch of accounting, involving classification, accumulation, assignment and control of costs. </a:t>
            </a:r>
          </a:p>
          <a:p>
            <a:pPr marL="0" indent="0" algn="just">
              <a:buNone/>
            </a:pPr>
            <a:r>
              <a:rPr lang="en-US" sz="2400" dirty="0" smtClean="0">
                <a:latin typeface="Times New Roman" pitchFamily="18" charset="0"/>
                <a:cs typeface="Times New Roman" pitchFamily="18" charset="0"/>
              </a:rPr>
              <a:t>CIMA’s definition: “The establishment of budgets, standard costs and actual costs of operations, processes, activities or products, and the analysis of variances, profitability or the social use of funds”. </a:t>
            </a:r>
          </a:p>
          <a:p>
            <a:pPr>
              <a:buNone/>
            </a:pPr>
            <a:endParaRPr lang="en-US" sz="2400" dirty="0" smtClean="0"/>
          </a:p>
          <a:p>
            <a:pPr marL="0" indent="0" algn="just">
              <a:buNone/>
            </a:pPr>
            <a:endParaRPr lang="en-US" sz="2200" dirty="0" smtClean="0">
              <a:latin typeface="Times New Roman" pitchFamily="18" charset="0"/>
              <a:cs typeface="Times New Roman" pitchFamily="18" charset="0"/>
            </a:endParaRPr>
          </a:p>
          <a:p>
            <a:pPr marL="0" indent="0" algn="just">
              <a:buNone/>
            </a:pPr>
            <a:endParaRPr lang="en-IN" sz="2200" dirty="0" smtClean="0">
              <a:latin typeface="Times New Roman" pitchFamily="18" charset="0"/>
              <a:cs typeface="Times New Roman" pitchFamily="18" charset="0"/>
            </a:endParaRPr>
          </a:p>
          <a:p>
            <a:pPr marL="0" indent="0" algn="just">
              <a:buNone/>
            </a:pPr>
            <a:endParaRPr lang="en-US" sz="2200" dirty="0" smtClean="0">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52400" y="228600"/>
            <a:ext cx="8763000" cy="6400800"/>
          </a:xfrm>
        </p:spPr>
        <p:txBody>
          <a:bodyPr>
            <a:noAutofit/>
          </a:bodyPr>
          <a:lstStyle/>
          <a:p>
            <a:pPr algn="just">
              <a:buNone/>
            </a:pPr>
            <a:r>
              <a:rPr lang="en-US" sz="2400" b="1" dirty="0" smtClean="0">
                <a:latin typeface="Times New Roman" pitchFamily="18" charset="0"/>
                <a:cs typeface="Times New Roman" pitchFamily="18" charset="0"/>
              </a:rPr>
              <a:t>Cost Accountancy</a:t>
            </a:r>
            <a:r>
              <a:rPr lang="en-US" sz="2200" dirty="0" smtClean="0">
                <a:latin typeface="Times New Roman" pitchFamily="18" charset="0"/>
                <a:cs typeface="Times New Roman" pitchFamily="18" charset="0"/>
              </a:rPr>
              <a:t> “the application of costing and cost accounting principles, methods and techniques to the science, art and practice of cost control and the ascertainment of profitability. It includes the presentation of information derived there from for the purpose of managerial decision making.”</a:t>
            </a:r>
            <a:endParaRPr lang="en-US" sz="2200" b="1" dirty="0" smtClean="0">
              <a:latin typeface="Times New Roman" panose="02020603050405020304" pitchFamily="18" charset="0"/>
              <a:cs typeface="Times New Roman" panose="02020603050405020304" pitchFamily="18" charset="0"/>
            </a:endParaRPr>
          </a:p>
          <a:p>
            <a:pPr algn="just">
              <a:buNone/>
            </a:pPr>
            <a:r>
              <a:rPr lang="en-US" sz="2200" b="1" dirty="0" smtClean="0">
                <a:latin typeface="Times New Roman" panose="02020603050405020304" pitchFamily="18" charset="0"/>
                <a:cs typeface="Times New Roman" panose="02020603050405020304" pitchFamily="18" charset="0"/>
              </a:rPr>
              <a:t>Objective of Cost </a:t>
            </a:r>
            <a:r>
              <a:rPr lang="en-IN" sz="2200" b="1" dirty="0" smtClean="0">
                <a:latin typeface="Times New Roman" panose="02020603050405020304" pitchFamily="18" charset="0"/>
                <a:cs typeface="Times New Roman" panose="02020603050405020304" pitchFamily="18" charset="0"/>
              </a:rPr>
              <a:t>Accounting: </a:t>
            </a:r>
          </a:p>
          <a:p>
            <a:pPr marL="457200" indent="-457200" algn="just">
              <a:buAutoNum type="arabicPeriod"/>
            </a:pPr>
            <a:r>
              <a:rPr lang="en-US" sz="2200" dirty="0" smtClean="0">
                <a:latin typeface="Times New Roman" panose="02020603050405020304" pitchFamily="18" charset="0"/>
                <a:cs typeface="Times New Roman" panose="02020603050405020304" pitchFamily="18" charset="0"/>
              </a:rPr>
              <a:t>Cost accounting aims at systematic recording of expenses and analysis of the same so as to ascertain the cost of each product manufactured or service rendered by an organization. </a:t>
            </a:r>
          </a:p>
          <a:p>
            <a:pPr marL="457200" indent="-457200" algn="just">
              <a:buFont typeface="Arial" pitchFamily="34" charset="0"/>
              <a:buAutoNum type="arabicPeriod"/>
            </a:pPr>
            <a:r>
              <a:rPr lang="en-US" sz="2200" dirty="0" smtClean="0">
                <a:latin typeface="Times New Roman" panose="02020603050405020304" pitchFamily="18" charset="0"/>
                <a:cs typeface="Times New Roman" panose="02020603050405020304" pitchFamily="18" charset="0"/>
              </a:rPr>
              <a:t>To arrive at the cost of production of every unit, job, operation, process, department or service and to develop cost standard. To provide actual figures of cost for comparison with estimates and serve as a guide for future estimates.</a:t>
            </a:r>
          </a:p>
          <a:p>
            <a:pPr marL="457200" indent="-457200" algn="just">
              <a:buAutoNum type="arabicPeriod"/>
            </a:pPr>
            <a:r>
              <a:rPr lang="en-US" sz="2200" dirty="0" smtClean="0">
                <a:latin typeface="Times New Roman" panose="02020603050405020304" pitchFamily="18" charset="0"/>
                <a:cs typeface="Times New Roman" panose="02020603050405020304" pitchFamily="18" charset="0"/>
              </a:rPr>
              <a:t>Analyzing the causes of unsatisfactory results, indicating remedies.</a:t>
            </a:r>
          </a:p>
          <a:p>
            <a:pPr marL="457200" indent="-457200" algn="just">
              <a:buAutoNum type="arabicPeriod"/>
            </a:pPr>
            <a:r>
              <a:rPr lang="en-US" sz="2200" dirty="0" smtClean="0">
                <a:latin typeface="Times New Roman" panose="02020603050405020304" pitchFamily="18" charset="0"/>
                <a:cs typeface="Times New Roman" panose="02020603050405020304" pitchFamily="18" charset="0"/>
              </a:rPr>
              <a:t>To provide data for periodical profit and loss accounts and balance sheets at such intervals, e.g., weekly, monthly or quarterly, not only for the whole business but also by departments or individual products. </a:t>
            </a:r>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4" descr="A diagram of cost&#10;&#10;Description automatically generated">
            <a:extLst>
              <a:ext uri="{FF2B5EF4-FFF2-40B4-BE49-F238E27FC236}">
                <a16:creationId xmlns:a16="http://schemas.microsoft.com/office/drawing/2014/main" xmlns="" id="{140FA541-97C7-5485-093E-948FEB305096}"/>
              </a:ext>
            </a:extLst>
          </p:cNvPr>
          <p:cNvPicPr>
            <a:picLocks noGrp="1" noChangeAspect="1"/>
          </p:cNvPicPr>
          <p:nvPr>
            <p:ph idx="1"/>
          </p:nvPr>
        </p:nvPicPr>
        <p:blipFill>
          <a:blip r:embed="rId2" cstate="print"/>
          <a:stretch>
            <a:fillRect/>
          </a:stretch>
        </p:blipFill>
        <p:spPr>
          <a:xfrm>
            <a:off x="152400" y="228600"/>
            <a:ext cx="8610600" cy="6248400"/>
          </a:xfrm>
          <a:prstGeom prst="rect">
            <a:avLst/>
          </a:prstGeom>
          <a:ln>
            <a:noFill/>
          </a:ln>
        </p:spPr>
      </p:pic>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0"/>
            <a:ext cx="8229600" cy="685800"/>
          </a:xfrm>
        </p:spPr>
        <p:txBody>
          <a:bodyPr>
            <a:noAutofit/>
          </a:bodyPr>
          <a:lstStyle/>
          <a:p>
            <a:r>
              <a:rPr lang="en-IN" sz="3700" b="1" dirty="0" smtClean="0">
                <a:latin typeface="Times New Roman" pitchFamily="18" charset="0"/>
                <a:cs typeface="Times New Roman" pitchFamily="18" charset="0"/>
              </a:rPr>
              <a:t>Classification of costs</a:t>
            </a:r>
            <a:endParaRPr lang="en-US" sz="3700" b="1" dirty="0">
              <a:latin typeface="Times New Roman" pitchFamily="18" charset="0"/>
              <a:cs typeface="Times New Roman" pitchFamily="18" charset="0"/>
            </a:endParaRPr>
          </a:p>
        </p:txBody>
      </p:sp>
      <p:sp>
        <p:nvSpPr>
          <p:cNvPr id="3" name="Content Placeholder 2"/>
          <p:cNvSpPr>
            <a:spLocks noGrp="1"/>
          </p:cNvSpPr>
          <p:nvPr>
            <p:ph idx="1"/>
          </p:nvPr>
        </p:nvSpPr>
        <p:spPr>
          <a:xfrm>
            <a:off x="152400" y="762000"/>
            <a:ext cx="8763000" cy="5867400"/>
          </a:xfrm>
        </p:spPr>
        <p:txBody>
          <a:bodyPr>
            <a:noAutofit/>
          </a:bodyPr>
          <a:lstStyle/>
          <a:p>
            <a:pPr marL="514350" indent="-514350" algn="just">
              <a:buAutoNum type="arabicPeriod"/>
            </a:pPr>
            <a:r>
              <a:rPr lang="en-US" sz="2250" b="1" dirty="0" smtClean="0">
                <a:latin typeface="Times New Roman" pitchFamily="18" charset="0"/>
                <a:cs typeface="Times New Roman" pitchFamily="18" charset="0"/>
              </a:rPr>
              <a:t>By time</a:t>
            </a:r>
            <a:r>
              <a:rPr lang="en-US" sz="2250" dirty="0" smtClean="0">
                <a:latin typeface="Times New Roman" pitchFamily="18" charset="0"/>
                <a:cs typeface="Times New Roman" pitchFamily="18" charset="0"/>
              </a:rPr>
              <a:t> (</a:t>
            </a:r>
            <a:r>
              <a:rPr lang="en-US" sz="2250" b="1" i="1" dirty="0" smtClean="0">
                <a:latin typeface="Times New Roman" pitchFamily="18" charset="0"/>
                <a:cs typeface="Times New Roman" pitchFamily="18" charset="0"/>
              </a:rPr>
              <a:t>Historical</a:t>
            </a:r>
            <a:r>
              <a:rPr lang="en-US" sz="2250" dirty="0" smtClean="0">
                <a:latin typeface="Times New Roman" pitchFamily="18" charset="0"/>
                <a:cs typeface="Times New Roman" pitchFamily="18" charset="0"/>
              </a:rPr>
              <a:t>: These costs are ascertained after they are incurred; </a:t>
            </a:r>
            <a:r>
              <a:rPr lang="en-US" sz="2250" b="1" i="1" dirty="0" smtClean="0">
                <a:latin typeface="Times New Roman" pitchFamily="18" charset="0"/>
                <a:cs typeface="Times New Roman" pitchFamily="18" charset="0"/>
              </a:rPr>
              <a:t>Pre-determined:</a:t>
            </a:r>
            <a:r>
              <a:rPr lang="en-US" sz="2250" dirty="0" smtClean="0">
                <a:latin typeface="Times New Roman" pitchFamily="18" charset="0"/>
                <a:cs typeface="Times New Roman" pitchFamily="18" charset="0"/>
              </a:rPr>
              <a:t> These costs are calculated before they are incurred on the basis of a  specification of all factors affecting cost.): </a:t>
            </a:r>
          </a:p>
          <a:p>
            <a:pPr marL="514350" indent="-514350" algn="just">
              <a:buNone/>
            </a:pPr>
            <a:r>
              <a:rPr lang="en-US" sz="2250" b="1" dirty="0" smtClean="0">
                <a:latin typeface="Times New Roman" pitchFamily="18" charset="0"/>
                <a:cs typeface="Times New Roman" pitchFamily="18" charset="0"/>
              </a:rPr>
              <a:t>2. By nature or elements</a:t>
            </a:r>
            <a:r>
              <a:rPr lang="en-US" sz="2250" dirty="0" smtClean="0">
                <a:latin typeface="Times New Roman" pitchFamily="18" charset="0"/>
                <a:cs typeface="Times New Roman" pitchFamily="18" charset="0"/>
              </a:rPr>
              <a:t> (Material, Labor and Overhead). </a:t>
            </a:r>
          </a:p>
          <a:p>
            <a:pPr marL="514350" indent="-514350" algn="just">
              <a:buNone/>
            </a:pPr>
            <a:r>
              <a:rPr lang="en-US" sz="2250" b="1" dirty="0" smtClean="0">
                <a:latin typeface="Times New Roman" pitchFamily="18" charset="0"/>
                <a:cs typeface="Times New Roman" pitchFamily="18" charset="0"/>
              </a:rPr>
              <a:t>3. By degree of traceability to the product</a:t>
            </a:r>
          </a:p>
          <a:p>
            <a:pPr marL="514350" indent="-514350" algn="just">
              <a:buNone/>
            </a:pPr>
            <a:r>
              <a:rPr lang="en-US" sz="2250" dirty="0" smtClean="0">
                <a:latin typeface="Times New Roman" pitchFamily="18" charset="0"/>
                <a:cs typeface="Times New Roman" pitchFamily="18" charset="0"/>
              </a:rPr>
              <a:t> (</a:t>
            </a:r>
            <a:r>
              <a:rPr lang="en-US" sz="2250" b="1" i="1" dirty="0" smtClean="0">
                <a:latin typeface="Times New Roman" pitchFamily="18" charset="0"/>
                <a:cs typeface="Times New Roman" pitchFamily="18" charset="0"/>
              </a:rPr>
              <a:t>Direct/traceable:</a:t>
            </a:r>
            <a:r>
              <a:rPr lang="en-US" sz="2250" dirty="0" smtClean="0">
                <a:latin typeface="Times New Roman" pitchFamily="18" charset="0"/>
                <a:cs typeface="Times New Roman" pitchFamily="18" charset="0"/>
              </a:rPr>
              <a:t> Costs which can be easily traceable to a product or costing unit or cost center or some specific activity.  </a:t>
            </a:r>
            <a:r>
              <a:rPr lang="en-US" sz="2250" b="1" i="1" dirty="0" smtClean="0">
                <a:latin typeface="Times New Roman" pitchFamily="18" charset="0"/>
                <a:cs typeface="Times New Roman" pitchFamily="18" charset="0"/>
              </a:rPr>
              <a:t>Indirect/Common Costs</a:t>
            </a:r>
            <a:r>
              <a:rPr lang="en-US" sz="2250" dirty="0" smtClean="0">
                <a:latin typeface="Times New Roman" pitchFamily="18" charset="0"/>
                <a:cs typeface="Times New Roman" pitchFamily="18" charset="0"/>
              </a:rPr>
              <a:t>: These costs are difficult to trace to a single product since they are common to several products, e.g. salary of a factory manager.) </a:t>
            </a:r>
          </a:p>
          <a:p>
            <a:pPr marL="514350" indent="-514350" algn="just">
              <a:buNone/>
            </a:pPr>
            <a:r>
              <a:rPr lang="en-US" sz="2250" b="1" dirty="0" smtClean="0">
                <a:latin typeface="Times New Roman" pitchFamily="18" charset="0"/>
                <a:cs typeface="Times New Roman" pitchFamily="18" charset="0"/>
              </a:rPr>
              <a:t>4. Association with the product  </a:t>
            </a:r>
            <a:r>
              <a:rPr lang="en-US" sz="2250" dirty="0" smtClean="0">
                <a:latin typeface="Times New Roman" pitchFamily="18" charset="0"/>
                <a:cs typeface="Times New Roman" pitchFamily="18" charset="0"/>
              </a:rPr>
              <a:t>(</a:t>
            </a:r>
            <a:r>
              <a:rPr lang="en-US" sz="2250" b="1" i="1" dirty="0" smtClean="0">
                <a:latin typeface="Times New Roman" pitchFamily="18" charset="0"/>
                <a:cs typeface="Times New Roman" pitchFamily="18" charset="0"/>
              </a:rPr>
              <a:t>Product:</a:t>
            </a:r>
            <a:r>
              <a:rPr lang="en-US" sz="2250" dirty="0" smtClean="0">
                <a:latin typeface="Times New Roman" pitchFamily="18" charset="0"/>
                <a:cs typeface="Times New Roman" pitchFamily="18" charset="0"/>
              </a:rPr>
              <a:t> Product costs are those which are traceable to the product and included in inventory values. Product cost is a full factory cost. </a:t>
            </a:r>
            <a:r>
              <a:rPr lang="en-US" sz="2250" b="1" i="1" dirty="0" smtClean="0">
                <a:latin typeface="Times New Roman" pitchFamily="18" charset="0"/>
                <a:cs typeface="Times New Roman" pitchFamily="18" charset="0"/>
              </a:rPr>
              <a:t>Period:</a:t>
            </a:r>
            <a:r>
              <a:rPr lang="en-US" sz="2250" dirty="0" smtClean="0">
                <a:latin typeface="Times New Roman" pitchFamily="18" charset="0"/>
                <a:cs typeface="Times New Roman" pitchFamily="18" charset="0"/>
              </a:rPr>
              <a:t> Costs incurred on the basis of time such as rent, salaries, etc., include selling and administrative costs essential to keep the business running. Though they are necessary to generate revenue, they are not directly associated with production. </a:t>
            </a:r>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04800" y="304800"/>
            <a:ext cx="8458200" cy="6248399"/>
          </a:xfrm>
        </p:spPr>
        <p:txBody>
          <a:bodyPr>
            <a:normAutofit/>
          </a:bodyPr>
          <a:lstStyle/>
          <a:p>
            <a:pPr marL="514350" indent="-514350" algn="just">
              <a:buNone/>
            </a:pPr>
            <a:r>
              <a:rPr lang="en-US" sz="2400" b="1" dirty="0" smtClean="0">
                <a:latin typeface="Times New Roman" pitchFamily="18" charset="0"/>
                <a:cs typeface="Times New Roman" pitchFamily="18" charset="0"/>
              </a:rPr>
              <a:t>5. By changes in activity or volume</a:t>
            </a:r>
            <a:r>
              <a:rPr lang="en-US" sz="2400" dirty="0" smtClean="0">
                <a:latin typeface="Times New Roman" pitchFamily="18" charset="0"/>
                <a:cs typeface="Times New Roman" pitchFamily="18" charset="0"/>
              </a:rPr>
              <a:t> (Fixed, Variable, Semi-variable). </a:t>
            </a:r>
          </a:p>
          <a:p>
            <a:pPr marL="514350" indent="-514350" algn="just">
              <a:buNone/>
            </a:pPr>
            <a:r>
              <a:rPr lang="en-US" sz="2400" b="1" dirty="0" smtClean="0">
                <a:latin typeface="Times New Roman" pitchFamily="18" charset="0"/>
                <a:cs typeface="Times New Roman" pitchFamily="18" charset="0"/>
              </a:rPr>
              <a:t>6. By function</a:t>
            </a:r>
            <a:r>
              <a:rPr lang="en-US" sz="2400" dirty="0" smtClean="0">
                <a:latin typeface="Times New Roman" pitchFamily="18" charset="0"/>
                <a:cs typeface="Times New Roman" pitchFamily="18" charset="0"/>
              </a:rPr>
              <a:t> (Manufacturing, Administrative, Selling, Research and development, Pre-production(trial runs)). </a:t>
            </a:r>
          </a:p>
          <a:p>
            <a:pPr marL="514350" indent="-514350" algn="just">
              <a:buNone/>
            </a:pPr>
            <a:r>
              <a:rPr lang="en-US" sz="2400" b="1" dirty="0" smtClean="0">
                <a:latin typeface="Times New Roman" pitchFamily="18" charset="0"/>
                <a:cs typeface="Times New Roman" pitchFamily="18" charset="0"/>
              </a:rPr>
              <a:t>7. Relationship with accounting period</a:t>
            </a:r>
            <a:r>
              <a:rPr lang="en-US" sz="2400" dirty="0" smtClean="0">
                <a:latin typeface="Times New Roman" pitchFamily="18" charset="0"/>
                <a:cs typeface="Times New Roman" pitchFamily="18" charset="0"/>
              </a:rPr>
              <a:t> (Capital expenditure provides benefit to future period; revenue expenditure benefits only the current period).</a:t>
            </a:r>
          </a:p>
          <a:p>
            <a:pPr marL="514350" indent="-514350" algn="just">
              <a:buNone/>
            </a:pPr>
            <a:r>
              <a:rPr lang="en-US" sz="2400" b="1" dirty="0" smtClean="0">
                <a:latin typeface="Times New Roman" pitchFamily="18" charset="0"/>
                <a:cs typeface="Times New Roman" pitchFamily="18" charset="0"/>
              </a:rPr>
              <a:t>8. Controllability</a:t>
            </a:r>
            <a:r>
              <a:rPr lang="en-US" sz="2400" dirty="0" smtClean="0">
                <a:latin typeface="Times New Roman" pitchFamily="18" charset="0"/>
                <a:cs typeface="Times New Roman" pitchFamily="18" charset="0"/>
              </a:rPr>
              <a:t> (Controllable cost: which can be influenced by its budget holder. Non-Controllable Cost: which is not subject to control at any level of managerial supervision). </a:t>
            </a:r>
          </a:p>
          <a:p>
            <a:pPr marL="514350" indent="-514350" algn="just">
              <a:buNone/>
            </a:pPr>
            <a:r>
              <a:rPr lang="en-US" sz="2400" b="1" dirty="0" smtClean="0">
                <a:latin typeface="Times New Roman" pitchFamily="18" charset="0"/>
                <a:cs typeface="Times New Roman" pitchFamily="18" charset="0"/>
              </a:rPr>
              <a:t>9. </a:t>
            </a:r>
            <a:r>
              <a:rPr lang="en-IN" sz="2400" b="1" dirty="0" smtClean="0">
                <a:latin typeface="Times New Roman" pitchFamily="18" charset="0"/>
                <a:cs typeface="Times New Roman" pitchFamily="18" charset="0"/>
              </a:rPr>
              <a:t>Cost for analytical and decision-making purposes:</a:t>
            </a:r>
            <a:r>
              <a:rPr lang="en-IN" sz="2400" dirty="0" smtClean="0">
                <a:latin typeface="Times New Roman" pitchFamily="18" charset="0"/>
                <a:cs typeface="Times New Roman" pitchFamily="18" charset="0"/>
              </a:rPr>
              <a:t> (</a:t>
            </a:r>
            <a:r>
              <a:rPr lang="en-US" sz="2400" dirty="0" smtClean="0">
                <a:latin typeface="Times New Roman" pitchFamily="18" charset="0"/>
                <a:cs typeface="Times New Roman" pitchFamily="18" charset="0"/>
              </a:rPr>
              <a:t>Opportunity, Sunk, Differential, Joint, Common,  Replacement, etc).</a:t>
            </a:r>
          </a:p>
          <a:p>
            <a:pPr marL="514350" indent="-514350" algn="just">
              <a:buNone/>
            </a:pPr>
            <a:r>
              <a:rPr lang="en-US" sz="2400" dirty="0" smtClean="0">
                <a:latin typeface="Times New Roman" pitchFamily="18" charset="0"/>
                <a:cs typeface="Times New Roman" pitchFamily="18" charset="0"/>
              </a:rPr>
              <a:t>10. </a:t>
            </a:r>
            <a:r>
              <a:rPr lang="en-US" sz="2400" b="1" dirty="0" smtClean="0">
                <a:latin typeface="Times New Roman" pitchFamily="18" charset="0"/>
                <a:cs typeface="Times New Roman" pitchFamily="18" charset="0"/>
              </a:rPr>
              <a:t>Others</a:t>
            </a:r>
            <a:r>
              <a:rPr lang="en-US" sz="2400" dirty="0" smtClean="0">
                <a:latin typeface="Times New Roman" pitchFamily="18" charset="0"/>
                <a:cs typeface="Times New Roman" pitchFamily="18" charset="0"/>
              </a:rPr>
              <a:t> (Conversion, Traceable, Normal, Avoidable, Unavoidable, Total).</a:t>
            </a:r>
            <a:endParaRPr lang="en-IN" sz="2400" dirty="0" smtClean="0">
              <a:latin typeface="Times New Roman" pitchFamily="18" charset="0"/>
              <a:cs typeface="Times New Roman" pitchFamily="18" charset="0"/>
            </a:endParaRPr>
          </a:p>
          <a:p>
            <a:pPr>
              <a:buNone/>
            </a:pPr>
            <a:endParaRPr lang="en-US" sz="2400" dirty="0">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0"/>
            <a:ext cx="8229600" cy="533400"/>
          </a:xfrm>
        </p:spPr>
        <p:txBody>
          <a:bodyPr>
            <a:normAutofit fontScale="90000"/>
          </a:bodyPr>
          <a:lstStyle/>
          <a:p>
            <a:r>
              <a:rPr lang="en-US" b="1" dirty="0" smtClean="0">
                <a:latin typeface="Times New Roman" pitchFamily="18" charset="0"/>
                <a:cs typeface="Times New Roman" pitchFamily="18" charset="0"/>
              </a:rPr>
              <a:t>Sunk cost</a:t>
            </a:r>
            <a:endParaRPr lang="en-US" dirty="0"/>
          </a:p>
        </p:txBody>
      </p:sp>
      <p:sp>
        <p:nvSpPr>
          <p:cNvPr id="3" name="Content Placeholder 2"/>
          <p:cNvSpPr>
            <a:spLocks noGrp="1"/>
          </p:cNvSpPr>
          <p:nvPr>
            <p:ph idx="1"/>
          </p:nvPr>
        </p:nvSpPr>
        <p:spPr>
          <a:xfrm>
            <a:off x="228600" y="609601"/>
            <a:ext cx="8763000" cy="6096000"/>
          </a:xfrm>
        </p:spPr>
        <p:txBody>
          <a:bodyPr>
            <a:normAutofit/>
          </a:bodyPr>
          <a:lstStyle/>
          <a:p>
            <a:pPr algn="just"/>
            <a:r>
              <a:rPr lang="en-US" sz="2500" dirty="0" smtClean="0">
                <a:latin typeface="Times New Roman" pitchFamily="18" charset="0"/>
                <a:cs typeface="Times New Roman" pitchFamily="18" charset="0"/>
              </a:rPr>
              <a:t>It is the cost that has already been incurred and cannot be avoided by decisions taken in the future. It refers to past costs, thus is also called as unavoidable cost. </a:t>
            </a:r>
          </a:p>
          <a:p>
            <a:pPr algn="just"/>
            <a:r>
              <a:rPr lang="en-US" sz="2500" b="1" i="1" dirty="0" smtClean="0">
                <a:latin typeface="Times New Roman" pitchFamily="18" charset="0"/>
                <a:cs typeface="Times New Roman" pitchFamily="18" charset="0"/>
              </a:rPr>
              <a:t>CIMA defines it as the past cost not taken into account in decision making. ( since all past costs are irrelevant) </a:t>
            </a:r>
          </a:p>
          <a:p>
            <a:pPr algn="just"/>
            <a:r>
              <a:rPr lang="en-US" sz="2500" dirty="0" smtClean="0">
                <a:latin typeface="Times New Roman" pitchFamily="18" charset="0"/>
                <a:cs typeface="Times New Roman" pitchFamily="18" charset="0"/>
              </a:rPr>
              <a:t>It has also been defined as the difference between the purchase price of an asset and its salvage value.</a:t>
            </a:r>
          </a:p>
          <a:p>
            <a:pPr algn="just">
              <a:buNone/>
            </a:pPr>
            <a:r>
              <a:rPr lang="en-IN" sz="2500" dirty="0" smtClean="0">
                <a:latin typeface="Times New Roman" pitchFamily="18" charset="0"/>
                <a:cs typeface="Times New Roman" pitchFamily="18" charset="0"/>
              </a:rPr>
              <a:t>Example: </a:t>
            </a:r>
            <a:r>
              <a:rPr lang="en-US" sz="2500" dirty="0" smtClean="0">
                <a:latin typeface="Times New Roman" pitchFamily="18" charset="0"/>
                <a:cs typeface="Times New Roman" pitchFamily="18" charset="0"/>
              </a:rPr>
              <a:t>Training costs for employees who’ve left the company.</a:t>
            </a:r>
          </a:p>
          <a:p>
            <a:pPr algn="just">
              <a:buNone/>
            </a:pPr>
            <a:r>
              <a:rPr lang="en-IN" sz="2500" dirty="0" smtClean="0">
                <a:latin typeface="Times New Roman" pitchFamily="18" charset="0"/>
                <a:cs typeface="Times New Roman" pitchFamily="18" charset="0"/>
              </a:rPr>
              <a:t>Example: </a:t>
            </a:r>
            <a:r>
              <a:rPr lang="en-US" sz="2500" dirty="0" smtClean="0">
                <a:latin typeface="Times New Roman" pitchFamily="18" charset="0"/>
                <a:cs typeface="Times New Roman" pitchFamily="18" charset="0"/>
              </a:rPr>
              <a:t>ABC Ltd. spends </a:t>
            </a:r>
            <a:r>
              <a:rPr lang="en-US" sz="2500" b="1" dirty="0" smtClean="0">
                <a:latin typeface="Times New Roman" pitchFamily="18" charset="0"/>
                <a:cs typeface="Times New Roman" pitchFamily="18" charset="0"/>
              </a:rPr>
              <a:t>₹10 </a:t>
            </a:r>
            <a:r>
              <a:rPr lang="en-US" sz="2500" b="1" dirty="0" err="1" smtClean="0">
                <a:latin typeface="Times New Roman" pitchFamily="18" charset="0"/>
                <a:cs typeface="Times New Roman" pitchFamily="18" charset="0"/>
              </a:rPr>
              <a:t>lakhs</a:t>
            </a:r>
            <a:r>
              <a:rPr lang="en-US" sz="2500" dirty="0" smtClean="0">
                <a:latin typeface="Times New Roman" pitchFamily="18" charset="0"/>
                <a:cs typeface="Times New Roman" pitchFamily="18" charset="0"/>
              </a:rPr>
              <a:t> developing a new mobile app. Before launching, market research reveals the app is unlikely to succeed. </a:t>
            </a:r>
            <a:r>
              <a:rPr lang="en-US" sz="2500" b="1" dirty="0" smtClean="0">
                <a:latin typeface="Times New Roman" pitchFamily="18" charset="0"/>
                <a:cs typeface="Times New Roman" pitchFamily="18" charset="0"/>
              </a:rPr>
              <a:t>Option A</a:t>
            </a:r>
            <a:r>
              <a:rPr lang="en-US" sz="2500" dirty="0" smtClean="0">
                <a:latin typeface="Times New Roman" pitchFamily="18" charset="0"/>
                <a:cs typeface="Times New Roman" pitchFamily="18" charset="0"/>
              </a:rPr>
              <a:t>: Spend ₹3 </a:t>
            </a:r>
            <a:r>
              <a:rPr lang="en-US" sz="2500" dirty="0" err="1" smtClean="0">
                <a:latin typeface="Times New Roman" pitchFamily="18" charset="0"/>
                <a:cs typeface="Times New Roman" pitchFamily="18" charset="0"/>
              </a:rPr>
              <a:t>lakhs</a:t>
            </a:r>
            <a:r>
              <a:rPr lang="en-US" sz="2500" dirty="0" smtClean="0">
                <a:latin typeface="Times New Roman" pitchFamily="18" charset="0"/>
                <a:cs typeface="Times New Roman" pitchFamily="18" charset="0"/>
              </a:rPr>
              <a:t> more to launch it. </a:t>
            </a:r>
            <a:r>
              <a:rPr lang="en-US" sz="2500" b="1" dirty="0" smtClean="0">
                <a:latin typeface="Times New Roman" pitchFamily="18" charset="0"/>
                <a:cs typeface="Times New Roman" pitchFamily="18" charset="0"/>
              </a:rPr>
              <a:t>Option B</a:t>
            </a:r>
            <a:r>
              <a:rPr lang="en-US" sz="2500" dirty="0" smtClean="0">
                <a:latin typeface="Times New Roman" pitchFamily="18" charset="0"/>
                <a:cs typeface="Times New Roman" pitchFamily="18" charset="0"/>
              </a:rPr>
              <a:t>: Cancel the project.</a:t>
            </a:r>
            <a:endParaRPr lang="en-IN" sz="2500" dirty="0" smtClean="0">
              <a:latin typeface="Times New Roman" pitchFamily="18" charset="0"/>
              <a:cs typeface="Times New Roman" pitchFamily="18" charset="0"/>
            </a:endParaRPr>
          </a:p>
          <a:p>
            <a:pPr algn="just">
              <a:buNone/>
            </a:pPr>
            <a:r>
              <a:rPr lang="en-IN" sz="2500" dirty="0" smtClean="0">
                <a:latin typeface="Times New Roman" pitchFamily="18" charset="0"/>
                <a:cs typeface="Times New Roman" pitchFamily="18" charset="0"/>
              </a:rPr>
              <a:t>(</a:t>
            </a:r>
            <a:r>
              <a:rPr lang="en-IN" sz="2500" b="1" dirty="0" smtClean="0">
                <a:latin typeface="Times New Roman" pitchFamily="18" charset="0"/>
                <a:cs typeface="Times New Roman" pitchFamily="18" charset="0"/>
              </a:rPr>
              <a:t>The sunk cost fallacy</a:t>
            </a:r>
            <a:r>
              <a:rPr lang="en-IN" sz="2500" dirty="0" smtClean="0">
                <a:latin typeface="Times New Roman" pitchFamily="18" charset="0"/>
                <a:cs typeface="Times New Roman" pitchFamily="18" charset="0"/>
              </a:rPr>
              <a:t>: </a:t>
            </a:r>
            <a:r>
              <a:rPr lang="en-US" sz="2500" dirty="0" smtClean="0">
                <a:latin typeface="Times New Roman" pitchFamily="18" charset="0"/>
                <a:cs typeface="Times New Roman" pitchFamily="18" charset="0"/>
              </a:rPr>
              <a:t>We’ve already spent so much, let’s not waste it)</a:t>
            </a:r>
          </a:p>
          <a:p>
            <a:endParaRPr lang="en-US" sz="2500" dirty="0"/>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0"/>
            <a:ext cx="8229600" cy="609600"/>
          </a:xfrm>
        </p:spPr>
        <p:txBody>
          <a:bodyPr>
            <a:noAutofit/>
          </a:bodyPr>
          <a:lstStyle/>
          <a:p>
            <a:r>
              <a:rPr lang="en-IN" sz="3400" b="1" dirty="0" smtClean="0">
                <a:latin typeface="Times New Roman" pitchFamily="18" charset="0"/>
                <a:cs typeface="Times New Roman" pitchFamily="18" charset="0"/>
              </a:rPr>
              <a:t>Relevant cost</a:t>
            </a:r>
            <a:endParaRPr lang="en-US" sz="3400" b="1" dirty="0">
              <a:latin typeface="Times New Roman" pitchFamily="18" charset="0"/>
              <a:cs typeface="Times New Roman" pitchFamily="18" charset="0"/>
            </a:endParaRPr>
          </a:p>
        </p:txBody>
      </p:sp>
      <p:sp>
        <p:nvSpPr>
          <p:cNvPr id="3" name="Content Placeholder 2"/>
          <p:cNvSpPr>
            <a:spLocks noGrp="1"/>
          </p:cNvSpPr>
          <p:nvPr>
            <p:ph idx="1"/>
          </p:nvPr>
        </p:nvSpPr>
        <p:spPr>
          <a:xfrm>
            <a:off x="228600" y="609600"/>
            <a:ext cx="8610600" cy="6096000"/>
          </a:xfrm>
        </p:spPr>
        <p:txBody>
          <a:bodyPr>
            <a:noAutofit/>
          </a:bodyPr>
          <a:lstStyle/>
          <a:p>
            <a:pPr algn="just">
              <a:buNone/>
            </a:pPr>
            <a:r>
              <a:rPr lang="en-US" sz="2400" dirty="0" smtClean="0">
                <a:latin typeface="Times New Roman" pitchFamily="18" charset="0"/>
                <a:cs typeface="Times New Roman" pitchFamily="18" charset="0"/>
              </a:rPr>
              <a:t>It is the cost which influences a particular decision and is influenced by the decision. </a:t>
            </a:r>
          </a:p>
          <a:p>
            <a:pPr algn="just"/>
            <a:r>
              <a:rPr lang="en-US" sz="2400" dirty="0" smtClean="0">
                <a:latin typeface="Times New Roman" pitchFamily="18" charset="0"/>
                <a:cs typeface="Times New Roman" pitchFamily="18" charset="0"/>
              </a:rPr>
              <a:t>Relevant costs are future costs that differ between alternatives. They are costs that are directly impacted by a decision and hence should be included in the decision-making process.</a:t>
            </a:r>
          </a:p>
          <a:p>
            <a:pPr algn="just">
              <a:buNone/>
            </a:pPr>
            <a:endParaRPr lang="en-US" sz="2400" dirty="0" smtClean="0">
              <a:latin typeface="Times New Roman" pitchFamily="18" charset="0"/>
              <a:cs typeface="Times New Roman" pitchFamily="18" charset="0"/>
            </a:endParaRPr>
          </a:p>
          <a:p>
            <a:pPr algn="just">
              <a:buNone/>
            </a:pPr>
            <a:r>
              <a:rPr lang="en-US" sz="2400" dirty="0" smtClean="0">
                <a:latin typeface="Times New Roman" pitchFamily="18" charset="0"/>
                <a:cs typeface="Times New Roman" pitchFamily="18" charset="0"/>
              </a:rPr>
              <a:t>Example: if a manufacturer wants to close down his shop, wages paid to workers will disappear. Thus, it is a relevant cost.</a:t>
            </a:r>
          </a:p>
          <a:p>
            <a:pPr algn="just">
              <a:buNone/>
            </a:pPr>
            <a:r>
              <a:rPr lang="en-IN" sz="2400" dirty="0" smtClean="0">
                <a:latin typeface="Times New Roman" pitchFamily="18" charset="0"/>
                <a:cs typeface="Times New Roman" pitchFamily="18" charset="0"/>
              </a:rPr>
              <a:t>Example: </a:t>
            </a:r>
            <a:r>
              <a:rPr lang="en-US" sz="2400" dirty="0" smtClean="0">
                <a:latin typeface="Times New Roman" pitchFamily="18" charset="0"/>
                <a:cs typeface="Times New Roman" pitchFamily="18" charset="0"/>
              </a:rPr>
              <a:t>A company makes a part in-house for ₹120 per unit. The cost breakdown:</a:t>
            </a:r>
          </a:p>
          <a:p>
            <a:pPr>
              <a:buNone/>
            </a:pPr>
            <a:r>
              <a:rPr lang="en-US" sz="2400" dirty="0" smtClean="0">
                <a:latin typeface="Times New Roman" pitchFamily="18" charset="0"/>
                <a:cs typeface="Times New Roman" pitchFamily="18" charset="0"/>
              </a:rPr>
              <a:t>Direct Materials: ₹40; Direct Labor: ₹30; Variable Overhead: ₹20</a:t>
            </a:r>
          </a:p>
          <a:p>
            <a:pPr>
              <a:buNone/>
            </a:pPr>
            <a:r>
              <a:rPr lang="en-US" sz="2400" dirty="0" smtClean="0">
                <a:latin typeface="Times New Roman" pitchFamily="18" charset="0"/>
                <a:cs typeface="Times New Roman" pitchFamily="18" charset="0"/>
              </a:rPr>
              <a:t>Fixed Overhead: ₹30. </a:t>
            </a:r>
            <a:r>
              <a:rPr lang="en-US" sz="2400" b="1" i="1" dirty="0" smtClean="0">
                <a:latin typeface="Times New Roman" pitchFamily="18" charset="0"/>
                <a:cs typeface="Times New Roman" pitchFamily="18" charset="0"/>
              </a:rPr>
              <a:t>A supplier offers to sell the part for ₹100 PU</a:t>
            </a:r>
          </a:p>
          <a:p>
            <a:pPr>
              <a:buNone/>
            </a:pPr>
            <a:r>
              <a:rPr lang="en-US" sz="2400" b="1" dirty="0" smtClean="0">
                <a:latin typeface="Times New Roman" pitchFamily="18" charset="0"/>
                <a:cs typeface="Times New Roman" pitchFamily="18" charset="0"/>
              </a:rPr>
              <a:t>Question:</a:t>
            </a:r>
            <a:r>
              <a:rPr lang="en-US" sz="2400" dirty="0" smtClean="0">
                <a:latin typeface="Times New Roman" pitchFamily="18" charset="0"/>
                <a:cs typeface="Times New Roman" pitchFamily="18" charset="0"/>
              </a:rPr>
              <a:t> Should the company make or buy the part?</a:t>
            </a:r>
          </a:p>
          <a:p>
            <a:pPr algn="just">
              <a:buNone/>
            </a:pPr>
            <a:r>
              <a:rPr lang="en-IN" sz="2400" dirty="0" smtClean="0">
                <a:latin typeface="Times New Roman" pitchFamily="18" charset="0"/>
                <a:cs typeface="Times New Roman" pitchFamily="18" charset="0"/>
              </a:rPr>
              <a:t>Relevance cost = 40 + 30 + 20 = 90. </a:t>
            </a:r>
            <a:endParaRPr lang="en-US" sz="2400" dirty="0" smtClean="0">
              <a:latin typeface="Times New Roman" pitchFamily="18" charset="0"/>
              <a:cs typeface="Times New Roman" pitchFamily="18" charset="0"/>
            </a:endParaRPr>
          </a:p>
          <a:p>
            <a:pPr>
              <a:buNone/>
            </a:pPr>
            <a:r>
              <a:rPr lang="en-IN" sz="1550" dirty="0" smtClean="0">
                <a:solidFill>
                  <a:srgbClr val="FF0000"/>
                </a:solidFill>
                <a:latin typeface="Times New Roman" pitchFamily="18" charset="0"/>
                <a:cs typeface="Times New Roman" pitchFamily="18" charset="0"/>
              </a:rPr>
              <a:t>(variable cost is only related to the production, but relevant may or may not be related to the production)</a:t>
            </a:r>
            <a:endParaRPr lang="en-US" sz="1550" dirty="0">
              <a:solidFill>
                <a:srgbClr val="FF0000"/>
              </a:solidFill>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762000"/>
          </a:xfrm>
        </p:spPr>
        <p:txBody>
          <a:bodyPr>
            <a:noAutofit/>
          </a:bodyPr>
          <a:lstStyle/>
          <a:p>
            <a:r>
              <a:rPr lang="en-IN" sz="3600" b="1" dirty="0" smtClean="0">
                <a:latin typeface="Times New Roman" pitchFamily="18" charset="0"/>
                <a:cs typeface="Times New Roman" pitchFamily="18" charset="0"/>
              </a:rPr>
              <a:t>Shut-down cost</a:t>
            </a:r>
            <a:endParaRPr lang="en-US" sz="3600" b="1" dirty="0">
              <a:latin typeface="Times New Roman" pitchFamily="18" charset="0"/>
              <a:cs typeface="Times New Roman" pitchFamily="18" charset="0"/>
            </a:endParaRPr>
          </a:p>
        </p:txBody>
      </p:sp>
      <p:sp>
        <p:nvSpPr>
          <p:cNvPr id="3" name="Content Placeholder 2"/>
          <p:cNvSpPr>
            <a:spLocks noGrp="1"/>
          </p:cNvSpPr>
          <p:nvPr>
            <p:ph idx="1"/>
          </p:nvPr>
        </p:nvSpPr>
        <p:spPr>
          <a:xfrm>
            <a:off x="228600" y="914400"/>
            <a:ext cx="8686800" cy="5791199"/>
          </a:xfrm>
        </p:spPr>
        <p:txBody>
          <a:bodyPr>
            <a:normAutofit/>
          </a:bodyPr>
          <a:lstStyle/>
          <a:p>
            <a:pPr algn="just"/>
            <a:r>
              <a:rPr lang="en-IN" sz="2600" dirty="0" smtClean="0">
                <a:latin typeface="Times New Roman" panose="02020603050405020304" pitchFamily="18" charset="0"/>
                <a:cs typeface="Times New Roman" panose="02020603050405020304" pitchFamily="18" charset="0"/>
              </a:rPr>
              <a:t>Shut-down costs are the fixed costs which an undertaking will have to incur during the period of temporary closer of the production activity.</a:t>
            </a:r>
          </a:p>
          <a:p>
            <a:pPr algn="just"/>
            <a:endParaRPr lang="en-US" sz="2600" dirty="0" smtClean="0">
              <a:latin typeface="Times New Roman" panose="02020603050405020304" pitchFamily="18" charset="0"/>
              <a:cs typeface="Times New Roman" panose="02020603050405020304" pitchFamily="18" charset="0"/>
            </a:endParaRPr>
          </a:p>
          <a:p>
            <a:pPr algn="just"/>
            <a:r>
              <a:rPr lang="en-US" sz="2600" dirty="0" smtClean="0">
                <a:latin typeface="Times New Roman" panose="02020603050405020304" pitchFamily="18" charset="0"/>
                <a:cs typeface="Times New Roman" panose="02020603050405020304" pitchFamily="18" charset="0"/>
              </a:rPr>
              <a:t>Even if there is no production, certain costs/expenses such as factory rent, insurance of plant and </a:t>
            </a:r>
            <a:r>
              <a:rPr lang="en-IN" sz="2600" dirty="0" smtClean="0">
                <a:latin typeface="Times New Roman" panose="02020603050405020304" pitchFamily="18" charset="0"/>
                <a:cs typeface="Times New Roman" panose="02020603050405020304" pitchFamily="18" charset="0"/>
              </a:rPr>
              <a:t>machinery etc. have to be incurred.</a:t>
            </a:r>
          </a:p>
          <a:p>
            <a:pPr algn="just"/>
            <a:endParaRPr lang="en-IN" sz="2600" dirty="0" smtClean="0">
              <a:latin typeface="Times New Roman" panose="02020603050405020304" pitchFamily="18" charset="0"/>
              <a:cs typeface="Times New Roman" panose="02020603050405020304" pitchFamily="18" charset="0"/>
            </a:endParaRPr>
          </a:p>
          <a:p>
            <a:pPr algn="just"/>
            <a:r>
              <a:rPr lang="en-IN" sz="2600" dirty="0" smtClean="0">
                <a:latin typeface="Times New Roman" panose="02020603050405020304" pitchFamily="18" charset="0"/>
                <a:cs typeface="Times New Roman" panose="02020603050405020304" pitchFamily="18" charset="0"/>
              </a:rPr>
              <a:t>This cost is considered when there is a choice between to continue or to shut down the business.</a:t>
            </a:r>
          </a:p>
          <a:p>
            <a:pPr algn="just">
              <a:buNone/>
            </a:pPr>
            <a:endParaRPr lang="en-IN" sz="2600" dirty="0" smtClean="0">
              <a:latin typeface="Times New Roman" panose="02020603050405020304" pitchFamily="18" charset="0"/>
              <a:cs typeface="Times New Roman" panose="02020603050405020304" pitchFamily="18" charset="0"/>
            </a:endParaRPr>
          </a:p>
          <a:p>
            <a:pPr algn="just">
              <a:buNone/>
            </a:pPr>
            <a:r>
              <a:rPr lang="en-IN" sz="2600" i="1" dirty="0" smtClean="0">
                <a:latin typeface="Times New Roman" panose="02020603050405020304" pitchFamily="18" charset="0"/>
                <a:cs typeface="Times New Roman" panose="02020603050405020304" pitchFamily="18" charset="0"/>
              </a:rPr>
              <a:t>Example: Pandemic</a:t>
            </a:r>
            <a:endParaRPr lang="en-US" sz="2600" i="1" dirty="0"/>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0"/>
            <a:ext cx="8229600" cy="685800"/>
          </a:xfrm>
        </p:spPr>
        <p:txBody>
          <a:bodyPr>
            <a:noAutofit/>
          </a:bodyPr>
          <a:lstStyle/>
          <a:p>
            <a:r>
              <a:rPr lang="en-IN" sz="3600" b="1" dirty="0" smtClean="0">
                <a:latin typeface="Times New Roman" pitchFamily="18" charset="0"/>
                <a:cs typeface="Times New Roman" pitchFamily="18" charset="0"/>
              </a:rPr>
              <a:t>Out of pocket cost</a:t>
            </a:r>
            <a:endParaRPr lang="en-US" sz="3600" b="1" dirty="0">
              <a:latin typeface="Times New Roman" pitchFamily="18" charset="0"/>
              <a:cs typeface="Times New Roman" pitchFamily="18" charset="0"/>
            </a:endParaRPr>
          </a:p>
        </p:txBody>
      </p:sp>
      <p:sp>
        <p:nvSpPr>
          <p:cNvPr id="3" name="Content Placeholder 2"/>
          <p:cNvSpPr>
            <a:spLocks noGrp="1"/>
          </p:cNvSpPr>
          <p:nvPr>
            <p:ph idx="1"/>
          </p:nvPr>
        </p:nvSpPr>
        <p:spPr>
          <a:xfrm>
            <a:off x="228600" y="762000"/>
            <a:ext cx="8686800" cy="5867400"/>
          </a:xfrm>
        </p:spPr>
        <p:txBody>
          <a:bodyPr>
            <a:normAutofit lnSpcReduction="10000"/>
          </a:bodyPr>
          <a:lstStyle/>
          <a:p>
            <a:pPr algn="just"/>
            <a:r>
              <a:rPr lang="en-US" sz="2500" dirty="0" smtClean="0">
                <a:latin typeface="Times New Roman" pitchFamily="18" charset="0"/>
                <a:cs typeface="Times New Roman" pitchFamily="18" charset="0"/>
              </a:rPr>
              <a:t>Out-of-pocket cost refers to actual cash expenditures made by a company or individual. These are real, direct payments made for goods, services, or obligations — unlike notional costs, which do not involve cash flow.</a:t>
            </a:r>
          </a:p>
          <a:p>
            <a:pPr algn="just"/>
            <a:endParaRPr lang="en-US" sz="2500" dirty="0" smtClean="0">
              <a:latin typeface="Times New Roman" pitchFamily="18" charset="0"/>
              <a:cs typeface="Times New Roman" pitchFamily="18" charset="0"/>
            </a:endParaRPr>
          </a:p>
          <a:p>
            <a:pPr algn="just"/>
            <a:r>
              <a:rPr lang="en-US" sz="2500" dirty="0" smtClean="0">
                <a:latin typeface="Times New Roman" pitchFamily="18" charset="0"/>
                <a:cs typeface="Times New Roman" pitchFamily="18" charset="0"/>
              </a:rPr>
              <a:t>It involves payment to outsiders i.e. gives rise to cash expenditure as opposed to such costs as depreciation or opportunity cost which don’t involve any cash expenditure. </a:t>
            </a:r>
          </a:p>
          <a:p>
            <a:pPr algn="just"/>
            <a:endParaRPr lang="en-US" sz="2500" dirty="0" smtClean="0">
              <a:latin typeface="Times New Roman" pitchFamily="18" charset="0"/>
              <a:cs typeface="Times New Roman" pitchFamily="18" charset="0"/>
            </a:endParaRPr>
          </a:p>
          <a:p>
            <a:pPr algn="just"/>
            <a:r>
              <a:rPr lang="en-US" sz="2500" dirty="0" smtClean="0">
                <a:latin typeface="Times New Roman" pitchFamily="18" charset="0"/>
                <a:cs typeface="Times New Roman" pitchFamily="18" charset="0"/>
              </a:rPr>
              <a:t>Such costs are relevant for price fixation during recession or when make or buy decision is to be made.</a:t>
            </a:r>
          </a:p>
          <a:p>
            <a:pPr algn="just"/>
            <a:endParaRPr lang="en-IN" sz="2500" dirty="0" smtClean="0">
              <a:latin typeface="Times New Roman" pitchFamily="18" charset="0"/>
              <a:cs typeface="Times New Roman" pitchFamily="18" charset="0"/>
            </a:endParaRPr>
          </a:p>
          <a:p>
            <a:pPr algn="just">
              <a:buNone/>
            </a:pPr>
            <a:r>
              <a:rPr lang="en-US" sz="2500" dirty="0" smtClean="0">
                <a:latin typeface="Times New Roman" panose="02020603050405020304" pitchFamily="18" charset="0"/>
                <a:cs typeface="Times New Roman" panose="02020603050405020304" pitchFamily="18" charset="0"/>
              </a:rPr>
              <a:t>Example: Payment for materials, wages, insurance, salaries etc.</a:t>
            </a:r>
          </a:p>
          <a:p>
            <a:pPr algn="just"/>
            <a:r>
              <a:rPr lang="en-US" sz="2500" dirty="0" smtClean="0">
                <a:latin typeface="Times New Roman" panose="02020603050405020304" pitchFamily="18" charset="0"/>
                <a:cs typeface="Times New Roman" panose="02020603050405020304" pitchFamily="18" charset="0"/>
              </a:rPr>
              <a:t>Out of pocket cost will vary depending upon the nature of decision made.</a:t>
            </a:r>
          </a:p>
          <a:p>
            <a:pPr algn="just"/>
            <a:endParaRPr lang="en-US" sz="2500" dirty="0">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685800"/>
          </a:xfrm>
        </p:spPr>
        <p:txBody>
          <a:bodyPr>
            <a:normAutofit/>
          </a:bodyPr>
          <a:lstStyle/>
          <a:p>
            <a:r>
              <a:rPr lang="en-IN" sz="3200" b="1" dirty="0" smtClean="0">
                <a:latin typeface="Times New Roman" pitchFamily="18" charset="0"/>
                <a:cs typeface="Times New Roman" pitchFamily="18" charset="0"/>
              </a:rPr>
              <a:t>Opportunity cost</a:t>
            </a:r>
            <a:endParaRPr lang="en-US" sz="3200" b="1" dirty="0">
              <a:latin typeface="Times New Roman" pitchFamily="18" charset="0"/>
              <a:cs typeface="Times New Roman" pitchFamily="18" charset="0"/>
            </a:endParaRPr>
          </a:p>
        </p:txBody>
      </p:sp>
      <p:sp>
        <p:nvSpPr>
          <p:cNvPr id="3" name="Content Placeholder 2"/>
          <p:cNvSpPr>
            <a:spLocks noGrp="1"/>
          </p:cNvSpPr>
          <p:nvPr>
            <p:ph idx="1"/>
          </p:nvPr>
        </p:nvSpPr>
        <p:spPr>
          <a:xfrm>
            <a:off x="228600" y="914400"/>
            <a:ext cx="8610600" cy="5638800"/>
          </a:xfrm>
        </p:spPr>
        <p:txBody>
          <a:bodyPr>
            <a:normAutofit/>
          </a:bodyPr>
          <a:lstStyle/>
          <a:p>
            <a:pPr algn="just"/>
            <a:endParaRPr lang="en-US" sz="2600" dirty="0" smtClean="0">
              <a:latin typeface="Times New Roman" pitchFamily="18" charset="0"/>
              <a:cs typeface="Times New Roman" pitchFamily="18" charset="0"/>
            </a:endParaRPr>
          </a:p>
          <a:p>
            <a:pPr algn="just"/>
            <a:r>
              <a:rPr lang="en-US" sz="2600" dirty="0" smtClean="0">
                <a:latin typeface="Times New Roman" pitchFamily="18" charset="0"/>
                <a:cs typeface="Times New Roman" pitchFamily="18" charset="0"/>
              </a:rPr>
              <a:t>Opportunity cost is the cost of selecting one course of action and the losing of other opportunities to carry out that course of action.</a:t>
            </a:r>
          </a:p>
          <a:p>
            <a:pPr algn="just"/>
            <a:endParaRPr lang="en-US" sz="2600" dirty="0" smtClean="0">
              <a:latin typeface="Times New Roman" pitchFamily="18" charset="0"/>
              <a:cs typeface="Times New Roman" pitchFamily="18" charset="0"/>
            </a:endParaRPr>
          </a:p>
          <a:p>
            <a:pPr algn="just"/>
            <a:r>
              <a:rPr lang="en-US" sz="2600" dirty="0" smtClean="0">
                <a:latin typeface="Times New Roman" pitchFamily="18" charset="0"/>
                <a:cs typeface="Times New Roman" pitchFamily="18" charset="0"/>
              </a:rPr>
              <a:t>It is the amount that can be received if the asset is utilized in its next best alternative.</a:t>
            </a:r>
          </a:p>
          <a:p>
            <a:pPr algn="just"/>
            <a:endParaRPr lang="en-IN" sz="2600" dirty="0" smtClean="0">
              <a:latin typeface="Times New Roman" pitchFamily="18" charset="0"/>
              <a:cs typeface="Times New Roman" pitchFamily="18" charset="0"/>
            </a:endParaRPr>
          </a:p>
          <a:p>
            <a:pPr algn="just">
              <a:buNone/>
            </a:pPr>
            <a:r>
              <a:rPr lang="en-US" sz="2600" dirty="0" smtClean="0">
                <a:latin typeface="Times New Roman" pitchFamily="18" charset="0"/>
                <a:cs typeface="Times New Roman" pitchFamily="18" charset="0"/>
              </a:rPr>
              <a:t>Edwards, </a:t>
            </a:r>
            <a:r>
              <a:rPr lang="en-US" sz="2600" dirty="0" err="1" smtClean="0">
                <a:latin typeface="Times New Roman" pitchFamily="18" charset="0"/>
                <a:cs typeface="Times New Roman" pitchFamily="18" charset="0"/>
              </a:rPr>
              <a:t>Hermanson</a:t>
            </a:r>
            <a:r>
              <a:rPr lang="en-US" sz="2600" dirty="0" smtClean="0">
                <a:latin typeface="Times New Roman" pitchFamily="18" charset="0"/>
                <a:cs typeface="Times New Roman" pitchFamily="18" charset="0"/>
              </a:rPr>
              <a:t> and </a:t>
            </a:r>
            <a:r>
              <a:rPr lang="en-US" sz="2600" dirty="0" err="1" smtClean="0">
                <a:latin typeface="Times New Roman" pitchFamily="18" charset="0"/>
                <a:cs typeface="Times New Roman" pitchFamily="18" charset="0"/>
              </a:rPr>
              <a:t>Salmonson</a:t>
            </a:r>
            <a:r>
              <a:rPr lang="en-US" sz="2600" dirty="0" smtClean="0">
                <a:latin typeface="Times New Roman" pitchFamily="18" charset="0"/>
                <a:cs typeface="Times New Roman" pitchFamily="18" charset="0"/>
              </a:rPr>
              <a:t> define it as “the benefits lost by rejecting the best competing alternative to the one chosen. The benefit lost is usually the net earnings or profit that might have  been earned from the rejected alternative.”</a:t>
            </a:r>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609600"/>
          </a:xfrm>
        </p:spPr>
        <p:txBody>
          <a:bodyPr>
            <a:normAutofit/>
          </a:bodyPr>
          <a:lstStyle/>
          <a:p>
            <a:r>
              <a:rPr lang="en-IN" sz="3400" b="1" dirty="0" smtClean="0">
                <a:latin typeface="Times New Roman" pitchFamily="18" charset="0"/>
                <a:cs typeface="Times New Roman" pitchFamily="18" charset="0"/>
              </a:rPr>
              <a:t>Imputed cost</a:t>
            </a:r>
            <a:endParaRPr lang="en-US" sz="3400" b="1" dirty="0">
              <a:latin typeface="Times New Roman" pitchFamily="18" charset="0"/>
              <a:cs typeface="Times New Roman" pitchFamily="18" charset="0"/>
            </a:endParaRPr>
          </a:p>
        </p:txBody>
      </p:sp>
      <p:sp>
        <p:nvSpPr>
          <p:cNvPr id="3" name="Content Placeholder 2"/>
          <p:cNvSpPr>
            <a:spLocks noGrp="1"/>
          </p:cNvSpPr>
          <p:nvPr>
            <p:ph idx="1"/>
          </p:nvPr>
        </p:nvSpPr>
        <p:spPr>
          <a:xfrm>
            <a:off x="228600" y="838201"/>
            <a:ext cx="8686800" cy="5791199"/>
          </a:xfrm>
        </p:spPr>
        <p:txBody>
          <a:bodyPr>
            <a:normAutofit lnSpcReduction="10000"/>
          </a:bodyPr>
          <a:lstStyle/>
          <a:p>
            <a:pPr algn="just"/>
            <a:r>
              <a:rPr lang="en-US" sz="2600" dirty="0" smtClean="0">
                <a:latin typeface="Times New Roman" panose="02020603050405020304" pitchFamily="18" charset="0"/>
                <a:cs typeface="Times New Roman" panose="02020603050405020304" pitchFamily="18" charset="0"/>
              </a:rPr>
              <a:t>Imputed costs are hypothetical or notional costs that represent the potential cost of using a company’s own resources, rather than renting or purchasing them from outside sources. </a:t>
            </a:r>
          </a:p>
          <a:p>
            <a:pPr algn="just"/>
            <a:r>
              <a:rPr lang="en-US" sz="2600" dirty="0" smtClean="0">
                <a:latin typeface="Times New Roman" panose="02020603050405020304" pitchFamily="18" charset="0"/>
                <a:cs typeface="Times New Roman" panose="02020603050405020304" pitchFamily="18" charset="0"/>
              </a:rPr>
              <a:t>Some costs are not incurred and are useful while taking decision pertaining to a particular situation. These costs are known as </a:t>
            </a:r>
            <a:r>
              <a:rPr lang="en-US" sz="2600" b="1" i="1" dirty="0" smtClean="0">
                <a:latin typeface="Times New Roman" panose="02020603050405020304" pitchFamily="18" charset="0"/>
                <a:cs typeface="Times New Roman" panose="02020603050405020304" pitchFamily="18" charset="0"/>
              </a:rPr>
              <a:t>imputed or notional costs</a:t>
            </a:r>
            <a:r>
              <a:rPr lang="en-US" sz="2600" dirty="0" smtClean="0">
                <a:latin typeface="Times New Roman" panose="02020603050405020304" pitchFamily="18" charset="0"/>
                <a:cs typeface="Times New Roman" panose="02020603050405020304" pitchFamily="18" charset="0"/>
              </a:rPr>
              <a:t>, and they do not enter into traditional accounting systems.</a:t>
            </a:r>
          </a:p>
          <a:p>
            <a:pPr algn="just"/>
            <a:endParaRPr lang="en-US" sz="2600" dirty="0" smtClean="0">
              <a:latin typeface="Times New Roman" panose="02020603050405020304" pitchFamily="18" charset="0"/>
              <a:cs typeface="Times New Roman" panose="02020603050405020304" pitchFamily="18" charset="0"/>
            </a:endParaRPr>
          </a:p>
          <a:p>
            <a:pPr algn="just">
              <a:buNone/>
            </a:pPr>
            <a:r>
              <a:rPr lang="en-US" sz="2600" b="1" dirty="0" smtClean="0">
                <a:latin typeface="Times New Roman" panose="02020603050405020304" pitchFamily="18" charset="0"/>
                <a:cs typeface="Times New Roman" panose="02020603050405020304" pitchFamily="18" charset="0"/>
              </a:rPr>
              <a:t>Examples:</a:t>
            </a:r>
            <a:r>
              <a:rPr lang="en-US" sz="2600" dirty="0" smtClean="0">
                <a:latin typeface="Times New Roman" panose="02020603050405020304" pitchFamily="18" charset="0"/>
                <a:cs typeface="Times New Roman" panose="02020603050405020304" pitchFamily="18" charset="0"/>
              </a:rPr>
              <a:t> Interest on internally generated funds; the forgone rent income if a company uses its own building for production instead of renting it out </a:t>
            </a:r>
            <a:r>
              <a:rPr lang="en-US" sz="2200" dirty="0" smtClean="0">
                <a:latin typeface="Times New Roman" panose="02020603050405020304" pitchFamily="18" charset="0"/>
                <a:cs typeface="Times New Roman" panose="02020603050405020304" pitchFamily="18" charset="0"/>
              </a:rPr>
              <a:t>(notional rent)</a:t>
            </a:r>
            <a:r>
              <a:rPr lang="en-US" sz="2600" dirty="0" smtClean="0">
                <a:latin typeface="Times New Roman" panose="02020603050405020304" pitchFamily="18" charset="0"/>
                <a:cs typeface="Times New Roman" panose="02020603050405020304" pitchFamily="18" charset="0"/>
              </a:rPr>
              <a:t>;  the forgone salary if a business owner chooses to work in their own business instead of taking a job elsewhere. </a:t>
            </a:r>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685800"/>
          </a:xfrm>
        </p:spPr>
        <p:txBody>
          <a:bodyPr>
            <a:normAutofit/>
          </a:bodyPr>
          <a:lstStyle/>
          <a:p>
            <a:r>
              <a:rPr lang="en-IN" sz="3600" b="1" dirty="0" smtClean="0">
                <a:latin typeface="Times New Roman" pitchFamily="18" charset="0"/>
                <a:cs typeface="Times New Roman" pitchFamily="18" charset="0"/>
              </a:rPr>
              <a:t>Differential cost</a:t>
            </a:r>
            <a:endParaRPr lang="en-US" sz="3600" b="1" dirty="0">
              <a:latin typeface="Times New Roman" pitchFamily="18" charset="0"/>
              <a:cs typeface="Times New Roman" pitchFamily="18" charset="0"/>
            </a:endParaRPr>
          </a:p>
        </p:txBody>
      </p:sp>
      <p:sp>
        <p:nvSpPr>
          <p:cNvPr id="3" name="Content Placeholder 2"/>
          <p:cNvSpPr>
            <a:spLocks noGrp="1"/>
          </p:cNvSpPr>
          <p:nvPr>
            <p:ph idx="1"/>
          </p:nvPr>
        </p:nvSpPr>
        <p:spPr>
          <a:xfrm>
            <a:off x="304800" y="838201"/>
            <a:ext cx="8534400" cy="5791199"/>
          </a:xfrm>
        </p:spPr>
        <p:txBody>
          <a:bodyPr>
            <a:noAutofit/>
          </a:bodyPr>
          <a:lstStyle/>
          <a:p>
            <a:pPr algn="just"/>
            <a:r>
              <a:rPr lang="en-US" sz="2400" dirty="0" smtClean="0">
                <a:latin typeface="Times New Roman" panose="02020603050405020304" pitchFamily="18" charset="0"/>
                <a:cs typeface="Times New Roman" panose="02020603050405020304" pitchFamily="18" charset="0"/>
              </a:rPr>
              <a:t>Differential cost has been defined as “</a:t>
            </a:r>
            <a:r>
              <a:rPr lang="en-US" sz="2400" b="1" dirty="0" smtClean="0">
                <a:latin typeface="Times New Roman" panose="02020603050405020304" pitchFamily="18" charset="0"/>
                <a:cs typeface="Times New Roman" panose="02020603050405020304" pitchFamily="18" charset="0"/>
              </a:rPr>
              <a:t>the difference in total cost between alternatives, calculated to assist decision making”. </a:t>
            </a:r>
          </a:p>
          <a:p>
            <a:pPr algn="just"/>
            <a:endParaRPr lang="en-US" sz="2400" b="1" i="1" dirty="0" smtClean="0">
              <a:latin typeface="Times New Roman" panose="02020603050405020304" pitchFamily="18" charset="0"/>
              <a:cs typeface="Times New Roman" panose="02020603050405020304" pitchFamily="18" charset="0"/>
            </a:endParaRPr>
          </a:p>
          <a:p>
            <a:pPr algn="just"/>
            <a:r>
              <a:rPr lang="en-US" sz="2400" b="1" i="1" dirty="0" smtClean="0">
                <a:latin typeface="Times New Roman" panose="02020603050405020304" pitchFamily="18" charset="0"/>
                <a:cs typeface="Times New Roman" panose="02020603050405020304" pitchFamily="18" charset="0"/>
              </a:rPr>
              <a:t>Differential cost is the increase or decrease in total costs resulting out of:</a:t>
            </a:r>
          </a:p>
          <a:p>
            <a:pPr algn="just"/>
            <a:endParaRPr lang="en-US" sz="2400" b="1" i="1" dirty="0" smtClean="0">
              <a:latin typeface="Times New Roman" panose="02020603050405020304" pitchFamily="18" charset="0"/>
              <a:cs typeface="Times New Roman" panose="02020603050405020304" pitchFamily="18" charset="0"/>
            </a:endParaRPr>
          </a:p>
          <a:p>
            <a:pPr marL="514350" indent="-514350" algn="just">
              <a:buFont typeface="+mj-lt"/>
              <a:buAutoNum type="romanUcPeriod"/>
            </a:pPr>
            <a:r>
              <a:rPr lang="en-US" sz="2400" dirty="0" smtClean="0">
                <a:latin typeface="Times New Roman" panose="02020603050405020304" pitchFamily="18" charset="0"/>
                <a:cs typeface="Times New Roman" panose="02020603050405020304" pitchFamily="18" charset="0"/>
              </a:rPr>
              <a:t>Producing and distributing a few more or few less of products; </a:t>
            </a:r>
          </a:p>
          <a:p>
            <a:pPr marL="514350" indent="-514350" algn="just">
              <a:buFont typeface="+mj-lt"/>
              <a:buAutoNum type="romanUcPeriod"/>
            </a:pPr>
            <a:r>
              <a:rPr lang="en-US" sz="2400" dirty="0" smtClean="0">
                <a:latin typeface="Times New Roman" panose="02020603050405020304" pitchFamily="18" charset="0"/>
                <a:cs typeface="Times New Roman" panose="02020603050405020304" pitchFamily="18" charset="0"/>
              </a:rPr>
              <a:t>A change in the method of production/distribution;</a:t>
            </a:r>
          </a:p>
          <a:p>
            <a:pPr marL="514350" indent="-514350" algn="just">
              <a:buFont typeface="+mj-lt"/>
              <a:buAutoNum type="romanUcPeriod"/>
            </a:pPr>
            <a:r>
              <a:rPr lang="en-US" sz="2400" dirty="0" smtClean="0">
                <a:latin typeface="Times New Roman" panose="02020603050405020304" pitchFamily="18" charset="0"/>
                <a:cs typeface="Times New Roman" panose="02020603050405020304" pitchFamily="18" charset="0"/>
              </a:rPr>
              <a:t>An addition or deletion of a product or a territory; and</a:t>
            </a:r>
          </a:p>
          <a:p>
            <a:pPr marL="514350" indent="-514350" algn="just">
              <a:buFont typeface="+mj-lt"/>
              <a:buAutoNum type="romanUcPeriod"/>
            </a:pPr>
            <a:r>
              <a:rPr lang="en-US" sz="2400" dirty="0" smtClean="0">
                <a:latin typeface="Times New Roman" panose="02020603050405020304" pitchFamily="18" charset="0"/>
                <a:cs typeface="Times New Roman" panose="02020603050405020304" pitchFamily="18" charset="0"/>
              </a:rPr>
              <a:t>The selection of an additional sales channel. </a:t>
            </a:r>
          </a:p>
          <a:p>
            <a:pPr marL="0" indent="0" algn="just">
              <a:buNone/>
            </a:pPr>
            <a:r>
              <a:rPr lang="en-US" sz="2400" dirty="0" smtClean="0">
                <a:latin typeface="Times New Roman" panose="02020603050405020304" pitchFamily="18" charset="0"/>
                <a:cs typeface="Times New Roman" panose="02020603050405020304" pitchFamily="18" charset="0"/>
              </a:rPr>
              <a:t> </a:t>
            </a:r>
          </a:p>
          <a:p>
            <a:pPr marL="0" indent="0" algn="just"/>
            <a:r>
              <a:rPr lang="en-US" sz="2400" dirty="0" smtClean="0">
                <a:latin typeface="Times New Roman" panose="02020603050405020304" pitchFamily="18" charset="0"/>
                <a:cs typeface="Times New Roman" panose="02020603050405020304" pitchFamily="18" charset="0"/>
              </a:rPr>
              <a:t> Differential costs is useful in planning and decision making and     helps to choose the best alternative. </a:t>
            </a:r>
          </a:p>
          <a:p>
            <a:pPr marL="0" indent="0" algn="just"/>
            <a:endParaRPr lang="en-US" sz="2400" dirty="0" smtClean="0">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609600"/>
          </a:xfrm>
        </p:spPr>
        <p:txBody>
          <a:bodyPr>
            <a:normAutofit fontScale="90000"/>
          </a:bodyPr>
          <a:lstStyle/>
          <a:p>
            <a:r>
              <a:rPr lang="en-IN" sz="3600" b="1" dirty="0" smtClean="0">
                <a:latin typeface="Times New Roman" pitchFamily="18" charset="0"/>
                <a:cs typeface="Times New Roman" pitchFamily="18" charset="0"/>
              </a:rPr>
              <a:t>Marginal cost</a:t>
            </a:r>
            <a:endParaRPr lang="en-US" sz="3600" b="1" dirty="0">
              <a:latin typeface="Times New Roman" pitchFamily="18" charset="0"/>
              <a:cs typeface="Times New Roman" pitchFamily="18" charset="0"/>
            </a:endParaRPr>
          </a:p>
        </p:txBody>
      </p:sp>
      <p:sp>
        <p:nvSpPr>
          <p:cNvPr id="3" name="Content Placeholder 2"/>
          <p:cNvSpPr>
            <a:spLocks noGrp="1"/>
          </p:cNvSpPr>
          <p:nvPr>
            <p:ph idx="1"/>
          </p:nvPr>
        </p:nvSpPr>
        <p:spPr>
          <a:xfrm>
            <a:off x="304800" y="914400"/>
            <a:ext cx="8610600" cy="5638799"/>
          </a:xfrm>
        </p:spPr>
        <p:txBody>
          <a:bodyPr>
            <a:normAutofit lnSpcReduction="10000"/>
          </a:bodyPr>
          <a:lstStyle/>
          <a:p>
            <a:pPr algn="just"/>
            <a:r>
              <a:rPr lang="en-US" sz="2600" dirty="0" smtClean="0">
                <a:latin typeface="Times New Roman" pitchFamily="18" charset="0"/>
                <a:cs typeface="Times New Roman" pitchFamily="18" charset="0"/>
              </a:rPr>
              <a:t>It is the aggregate of variable costs, i.e., prime cost plus variable overheads. </a:t>
            </a:r>
          </a:p>
          <a:p>
            <a:pPr algn="just"/>
            <a:endParaRPr lang="en-US" sz="2600" dirty="0" smtClean="0">
              <a:latin typeface="Times New Roman" pitchFamily="18" charset="0"/>
              <a:cs typeface="Times New Roman" pitchFamily="18" charset="0"/>
            </a:endParaRPr>
          </a:p>
          <a:p>
            <a:pPr algn="just"/>
            <a:r>
              <a:rPr lang="en-IN" sz="2600" dirty="0" smtClean="0">
                <a:latin typeface="Times New Roman" pitchFamily="18" charset="0"/>
                <a:cs typeface="Times New Roman" pitchFamily="18" charset="0"/>
              </a:rPr>
              <a:t> </a:t>
            </a:r>
            <a:r>
              <a:rPr lang="en-US" sz="2600" dirty="0" smtClean="0">
                <a:latin typeface="Times New Roman" pitchFamily="18" charset="0"/>
                <a:cs typeface="Times New Roman" pitchFamily="18" charset="0"/>
              </a:rPr>
              <a:t>According to CIMA, “marginal cost means the amount at any given volume of output by which aggregate costs are changed if the volume of output is increased or decreased by unit”.</a:t>
            </a:r>
          </a:p>
          <a:p>
            <a:pPr algn="just"/>
            <a:endParaRPr lang="en-US" sz="2600" dirty="0" smtClean="0">
              <a:latin typeface="Times New Roman" pitchFamily="18" charset="0"/>
              <a:cs typeface="Times New Roman" pitchFamily="18" charset="0"/>
            </a:endParaRPr>
          </a:p>
          <a:p>
            <a:pPr algn="just"/>
            <a:r>
              <a:rPr lang="en-US" sz="2600" dirty="0" smtClean="0">
                <a:latin typeface="Times New Roman" pitchFamily="18" charset="0"/>
                <a:cs typeface="Times New Roman" pitchFamily="18" charset="0"/>
              </a:rPr>
              <a:t>It represents the incremental cost associated with producing one more unit of output.</a:t>
            </a:r>
          </a:p>
          <a:p>
            <a:pPr algn="just"/>
            <a:endParaRPr lang="en-US" sz="2600" dirty="0" smtClean="0">
              <a:latin typeface="Times New Roman" pitchFamily="18" charset="0"/>
              <a:cs typeface="Times New Roman" pitchFamily="18" charset="0"/>
            </a:endParaRPr>
          </a:p>
          <a:p>
            <a:pPr algn="just"/>
            <a:r>
              <a:rPr lang="en-US" sz="2600" dirty="0" smtClean="0">
                <a:latin typeface="Times New Roman" pitchFamily="18" charset="0"/>
                <a:cs typeface="Times New Roman" pitchFamily="18" charset="0"/>
              </a:rPr>
              <a:t>Marginal cost is also termed as variable cost and is sum total of direct material costs, direct </a:t>
            </a:r>
            <a:r>
              <a:rPr lang="en-US" sz="2600" dirty="0" err="1" smtClean="0">
                <a:latin typeface="Times New Roman" pitchFamily="18" charset="0"/>
                <a:cs typeface="Times New Roman" pitchFamily="18" charset="0"/>
              </a:rPr>
              <a:t>labour</a:t>
            </a:r>
            <a:r>
              <a:rPr lang="en-US" sz="2600" dirty="0" smtClean="0">
                <a:latin typeface="Times New Roman" pitchFamily="18" charset="0"/>
                <a:cs typeface="Times New Roman" pitchFamily="18" charset="0"/>
              </a:rPr>
              <a:t> costs, direct expenses and all variable overheads. </a:t>
            </a:r>
            <a:endParaRPr lang="en-IN" sz="2600" dirty="0" smtClean="0">
              <a:latin typeface="Times New Roman" pitchFamily="18" charset="0"/>
              <a:cs typeface="Times New Roman" pitchFamily="18" charset="0"/>
            </a:endParaRPr>
          </a:p>
          <a:p>
            <a:pPr algn="just"/>
            <a:endParaRPr lang="en-US" sz="2600" dirty="0">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685800"/>
          </a:xfrm>
        </p:spPr>
        <p:txBody>
          <a:bodyPr>
            <a:normAutofit/>
          </a:bodyPr>
          <a:lstStyle/>
          <a:p>
            <a:r>
              <a:rPr lang="en-IN" sz="3600" b="1" dirty="0" smtClean="0">
                <a:latin typeface="Times New Roman" pitchFamily="18" charset="0"/>
                <a:cs typeface="Times New Roman" pitchFamily="18" charset="0"/>
              </a:rPr>
              <a:t>Replacement cost</a:t>
            </a:r>
            <a:endParaRPr lang="en-US" sz="3600" b="1" dirty="0">
              <a:latin typeface="Times New Roman" pitchFamily="18" charset="0"/>
              <a:cs typeface="Times New Roman" pitchFamily="18" charset="0"/>
            </a:endParaRPr>
          </a:p>
        </p:txBody>
      </p:sp>
      <p:sp>
        <p:nvSpPr>
          <p:cNvPr id="3" name="Content Placeholder 2"/>
          <p:cNvSpPr>
            <a:spLocks noGrp="1"/>
          </p:cNvSpPr>
          <p:nvPr>
            <p:ph idx="1"/>
          </p:nvPr>
        </p:nvSpPr>
        <p:spPr>
          <a:xfrm>
            <a:off x="304800" y="914400"/>
            <a:ext cx="8534400" cy="5562600"/>
          </a:xfrm>
        </p:spPr>
        <p:txBody>
          <a:bodyPr>
            <a:normAutofit/>
          </a:bodyPr>
          <a:lstStyle/>
          <a:p>
            <a:pPr algn="just"/>
            <a:r>
              <a:rPr lang="en-US" sz="2500" dirty="0" smtClean="0">
                <a:latin typeface="Times New Roman" pitchFamily="18" charset="0"/>
                <a:cs typeface="Times New Roman" pitchFamily="18" charset="0"/>
              </a:rPr>
              <a:t>This is the cost of replacing an asset at current market value.</a:t>
            </a:r>
          </a:p>
          <a:p>
            <a:pPr algn="just">
              <a:buNone/>
            </a:pPr>
            <a:r>
              <a:rPr lang="en-US" sz="2500" dirty="0" smtClean="0">
                <a:latin typeface="Times New Roman" pitchFamily="18" charset="0"/>
                <a:cs typeface="Times New Roman" pitchFamily="18" charset="0"/>
              </a:rPr>
              <a:t> </a:t>
            </a:r>
          </a:p>
          <a:p>
            <a:pPr algn="just"/>
            <a:r>
              <a:rPr lang="en-US" sz="2500" dirty="0" smtClean="0">
                <a:latin typeface="Times New Roman" pitchFamily="18" charset="0"/>
                <a:cs typeface="Times New Roman" pitchFamily="18" charset="0"/>
              </a:rPr>
              <a:t>When the cost of replacing an asset is considered, it means the cost of purchasing the asset at the current market price is important and not the cost at which it was purchased. </a:t>
            </a:r>
          </a:p>
          <a:p>
            <a:pPr algn="just">
              <a:buNone/>
            </a:pPr>
            <a:endParaRPr lang="en-IN" sz="2500" dirty="0" smtClean="0">
              <a:latin typeface="Times New Roman" pitchFamily="18" charset="0"/>
              <a:cs typeface="Times New Roman" pitchFamily="18" charset="0"/>
            </a:endParaRPr>
          </a:p>
          <a:p>
            <a:pPr algn="just"/>
            <a:r>
              <a:rPr lang="en-IN" sz="2500" dirty="0" smtClean="0">
                <a:latin typeface="Times New Roman" pitchFamily="18" charset="0"/>
                <a:cs typeface="Times New Roman" pitchFamily="18" charset="0"/>
              </a:rPr>
              <a:t> Example: </a:t>
            </a:r>
            <a:r>
              <a:rPr lang="en-US" sz="2500" dirty="0" smtClean="0">
                <a:latin typeface="Times New Roman" pitchFamily="18" charset="0"/>
                <a:cs typeface="Times New Roman" pitchFamily="18" charset="0"/>
              </a:rPr>
              <a:t>A company owns a machine that it purchased 10 years ago for $50,000. Its book value is now $10,000 after depreciation. However, the current market price to buy a similar machine is $75,000. The replacement cost is $75,000</a:t>
            </a:r>
            <a:endParaRPr lang="en-US" sz="2500" dirty="0">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0"/>
            <a:ext cx="8229600" cy="533400"/>
          </a:xfrm>
        </p:spPr>
        <p:txBody>
          <a:bodyPr>
            <a:normAutofit fontScale="90000"/>
          </a:bodyPr>
          <a:lstStyle/>
          <a:p>
            <a:r>
              <a:rPr lang="en-IN" sz="3600" b="1" dirty="0" smtClean="0">
                <a:latin typeface="Times New Roman" pitchFamily="18" charset="0"/>
                <a:cs typeface="Times New Roman" pitchFamily="18" charset="0"/>
              </a:rPr>
              <a:t>Conversion cost</a:t>
            </a:r>
            <a:endParaRPr lang="en-US" sz="3600" b="1" dirty="0">
              <a:latin typeface="Times New Roman" pitchFamily="18" charset="0"/>
              <a:cs typeface="Times New Roman" pitchFamily="18" charset="0"/>
            </a:endParaRPr>
          </a:p>
        </p:txBody>
      </p:sp>
      <p:sp>
        <p:nvSpPr>
          <p:cNvPr id="3" name="Content Placeholder 2"/>
          <p:cNvSpPr>
            <a:spLocks noGrp="1"/>
          </p:cNvSpPr>
          <p:nvPr>
            <p:ph idx="1"/>
          </p:nvPr>
        </p:nvSpPr>
        <p:spPr>
          <a:xfrm>
            <a:off x="152400" y="609600"/>
            <a:ext cx="8839200" cy="6019799"/>
          </a:xfrm>
        </p:spPr>
        <p:txBody>
          <a:bodyPr>
            <a:noAutofit/>
          </a:bodyPr>
          <a:lstStyle/>
          <a:p>
            <a:pPr algn="just"/>
            <a:r>
              <a:rPr lang="en-US" sz="2500" dirty="0" smtClean="0">
                <a:latin typeface="Times New Roman" panose="02020603050405020304" pitchFamily="18" charset="0"/>
                <a:cs typeface="Times New Roman" panose="02020603050405020304" pitchFamily="18" charset="0"/>
              </a:rPr>
              <a:t>It is the cost of a finished product comprising direct labor and manufacturing overhead. </a:t>
            </a:r>
          </a:p>
          <a:p>
            <a:pPr algn="just"/>
            <a:endParaRPr lang="en-US" sz="2500" dirty="0" smtClean="0">
              <a:latin typeface="Times New Roman" panose="02020603050405020304" pitchFamily="18" charset="0"/>
              <a:cs typeface="Times New Roman" panose="02020603050405020304" pitchFamily="18" charset="0"/>
            </a:endParaRPr>
          </a:p>
          <a:p>
            <a:pPr algn="just"/>
            <a:r>
              <a:rPr lang="en-US" sz="2500" dirty="0" smtClean="0">
                <a:latin typeface="Times New Roman" panose="02020603050405020304" pitchFamily="18" charset="0"/>
                <a:cs typeface="Times New Roman" panose="02020603050405020304" pitchFamily="18" charset="0"/>
              </a:rPr>
              <a:t>Conversion cost refers to the </a:t>
            </a:r>
            <a:r>
              <a:rPr lang="en-US" sz="2500" i="1" dirty="0" smtClean="0">
                <a:latin typeface="Times New Roman" panose="02020603050405020304" pitchFamily="18" charset="0"/>
                <a:cs typeface="Times New Roman" panose="02020603050405020304" pitchFamily="18" charset="0"/>
              </a:rPr>
              <a:t>expenses incurred in transforming raw materials into finished goods, encompassing direct labor costs and manufacturing overhead costs, essentially everything except the direct materials used in production.</a:t>
            </a:r>
            <a:r>
              <a:rPr lang="en-US" sz="2500" dirty="0" smtClean="0">
                <a:latin typeface="Times New Roman" panose="02020603050405020304" pitchFamily="18" charset="0"/>
                <a:cs typeface="Times New Roman" panose="02020603050405020304" pitchFamily="18" charset="0"/>
              </a:rPr>
              <a:t> </a:t>
            </a:r>
          </a:p>
          <a:p>
            <a:pPr algn="just"/>
            <a:endParaRPr lang="en-US" sz="2500" dirty="0" smtClean="0">
              <a:latin typeface="Times New Roman" panose="02020603050405020304" pitchFamily="18" charset="0"/>
              <a:cs typeface="Times New Roman" panose="02020603050405020304" pitchFamily="18" charset="0"/>
            </a:endParaRPr>
          </a:p>
          <a:p>
            <a:pPr algn="just"/>
            <a:r>
              <a:rPr lang="en-US" sz="2500" dirty="0" smtClean="0">
                <a:latin typeface="Times New Roman" panose="02020603050405020304" pitchFamily="18" charset="0"/>
                <a:cs typeface="Times New Roman" panose="02020603050405020304" pitchFamily="18" charset="0"/>
              </a:rPr>
              <a:t>It is production cost less the cost of raw material but including the gains and losses in weight or volume of direct material arising due to production.</a:t>
            </a:r>
          </a:p>
          <a:p>
            <a:pPr algn="just"/>
            <a:endParaRPr lang="en-US" sz="2500" dirty="0" smtClean="0">
              <a:latin typeface="Times New Roman" panose="02020603050405020304" pitchFamily="18" charset="0"/>
              <a:cs typeface="Times New Roman" panose="02020603050405020304" pitchFamily="18" charset="0"/>
            </a:endParaRPr>
          </a:p>
          <a:p>
            <a:pPr algn="just"/>
            <a:r>
              <a:rPr lang="en-US" sz="2500" dirty="0" smtClean="0">
                <a:latin typeface="Times New Roman" panose="02020603050405020304" pitchFamily="18" charset="0"/>
                <a:cs typeface="Times New Roman" panose="02020603050405020304" pitchFamily="18" charset="0"/>
              </a:rPr>
              <a:t>It is crucial for businesses to understand their production costs, make informed decisions, and set appropriate product prices.</a:t>
            </a:r>
            <a:endParaRPr lang="en-US" sz="2500" dirty="0"/>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533400"/>
          </a:xfrm>
        </p:spPr>
        <p:txBody>
          <a:bodyPr>
            <a:normAutofit fontScale="90000"/>
          </a:bodyPr>
          <a:lstStyle/>
          <a:p>
            <a:r>
              <a:rPr lang="en-IN" sz="3600" b="1" dirty="0" smtClean="0">
                <a:latin typeface="Times New Roman" pitchFamily="18" charset="0"/>
                <a:cs typeface="Times New Roman" pitchFamily="18" charset="0"/>
              </a:rPr>
              <a:t>Committed cost</a:t>
            </a:r>
            <a:endParaRPr lang="en-US" sz="3600" b="1" dirty="0">
              <a:latin typeface="Times New Roman" pitchFamily="18" charset="0"/>
              <a:cs typeface="Times New Roman" pitchFamily="18" charset="0"/>
            </a:endParaRPr>
          </a:p>
        </p:txBody>
      </p:sp>
      <p:sp>
        <p:nvSpPr>
          <p:cNvPr id="3" name="Content Placeholder 2"/>
          <p:cNvSpPr>
            <a:spLocks noGrp="1"/>
          </p:cNvSpPr>
          <p:nvPr>
            <p:ph idx="1"/>
          </p:nvPr>
        </p:nvSpPr>
        <p:spPr>
          <a:xfrm>
            <a:off x="228600" y="762000"/>
            <a:ext cx="8610600" cy="5791199"/>
          </a:xfrm>
        </p:spPr>
        <p:txBody>
          <a:bodyPr>
            <a:normAutofit/>
          </a:bodyPr>
          <a:lstStyle/>
          <a:p>
            <a:pPr algn="just">
              <a:buNone/>
            </a:pPr>
            <a:endParaRPr lang="en-US" sz="2500" dirty="0" smtClean="0">
              <a:latin typeface="Times New Roman" pitchFamily="18" charset="0"/>
              <a:cs typeface="Times New Roman" pitchFamily="18" charset="0"/>
            </a:endParaRPr>
          </a:p>
          <a:p>
            <a:pPr algn="just"/>
            <a:r>
              <a:rPr lang="en-US" sz="2500" dirty="0" smtClean="0">
                <a:latin typeface="Times New Roman" pitchFamily="18" charset="0"/>
                <a:cs typeface="Times New Roman" pitchFamily="18" charset="0"/>
              </a:rPr>
              <a:t>These costs are incurred to maintain certain facilities and cannot be quickly eliminated. </a:t>
            </a:r>
          </a:p>
          <a:p>
            <a:pPr algn="just"/>
            <a:endParaRPr lang="en-US" sz="2500" dirty="0" smtClean="0">
              <a:latin typeface="Times New Roman" pitchFamily="18" charset="0"/>
              <a:cs typeface="Times New Roman" pitchFamily="18" charset="0"/>
            </a:endParaRPr>
          </a:p>
          <a:p>
            <a:pPr algn="just"/>
            <a:r>
              <a:rPr lang="en-US" sz="2500" dirty="0" smtClean="0">
                <a:latin typeface="Times New Roman" pitchFamily="18" charset="0"/>
                <a:cs typeface="Times New Roman" pitchFamily="18" charset="0"/>
              </a:rPr>
              <a:t>The management has little or no discretion in this cost, e.g., rent, insurance etc. </a:t>
            </a:r>
          </a:p>
          <a:p>
            <a:pPr algn="just"/>
            <a:endParaRPr lang="en-US" sz="2500" dirty="0" smtClean="0">
              <a:latin typeface="Times New Roman" pitchFamily="18" charset="0"/>
              <a:cs typeface="Times New Roman" pitchFamily="18" charset="0"/>
            </a:endParaRPr>
          </a:p>
          <a:p>
            <a:pPr algn="just"/>
            <a:r>
              <a:rPr lang="en-US" sz="2500" dirty="0" smtClean="0">
                <a:latin typeface="Times New Roman" pitchFamily="18" charset="0"/>
                <a:cs typeface="Times New Roman" pitchFamily="18" charset="0"/>
              </a:rPr>
              <a:t>Committed cost refers to a fixed cost arising from the use of facilities or services that are locked in due to contractual agreements or strategic investments, and that continue regardless of the level of activity or output.</a:t>
            </a:r>
          </a:p>
          <a:p>
            <a:pPr algn="just"/>
            <a:endParaRPr lang="en-IN" sz="2500" dirty="0" smtClean="0">
              <a:latin typeface="Times New Roman" pitchFamily="18" charset="0"/>
              <a:cs typeface="Times New Roman" pitchFamily="18" charset="0"/>
            </a:endParaRPr>
          </a:p>
          <a:p>
            <a:pPr algn="just"/>
            <a:endParaRPr lang="en-US" sz="2500" dirty="0">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609600"/>
          </a:xfrm>
        </p:spPr>
        <p:txBody>
          <a:bodyPr>
            <a:normAutofit fontScale="90000"/>
          </a:bodyPr>
          <a:lstStyle/>
          <a:p>
            <a:r>
              <a:rPr lang="en-US" sz="3600" b="1" dirty="0" smtClean="0">
                <a:latin typeface="Times New Roman" pitchFamily="18" charset="0"/>
                <a:cs typeface="Times New Roman" pitchFamily="18" charset="0"/>
              </a:rPr>
              <a:t>Discretionary Costs</a:t>
            </a:r>
            <a:endParaRPr lang="en-US" sz="3600" b="1" dirty="0">
              <a:latin typeface="Times New Roman" pitchFamily="18" charset="0"/>
              <a:cs typeface="Times New Roman" pitchFamily="18" charset="0"/>
            </a:endParaRPr>
          </a:p>
        </p:txBody>
      </p:sp>
      <p:sp>
        <p:nvSpPr>
          <p:cNvPr id="3" name="Content Placeholder 2"/>
          <p:cNvSpPr>
            <a:spLocks noGrp="1"/>
          </p:cNvSpPr>
          <p:nvPr>
            <p:ph idx="1"/>
          </p:nvPr>
        </p:nvSpPr>
        <p:spPr>
          <a:xfrm>
            <a:off x="228600" y="838200"/>
            <a:ext cx="8610600" cy="5638799"/>
          </a:xfrm>
        </p:spPr>
        <p:txBody>
          <a:bodyPr>
            <a:normAutofit/>
          </a:bodyPr>
          <a:lstStyle/>
          <a:p>
            <a:pPr algn="just">
              <a:buNone/>
            </a:pPr>
            <a:endParaRPr lang="en-US" sz="2600" dirty="0" smtClean="0">
              <a:latin typeface="Times New Roman" panose="02020603050405020304" pitchFamily="18" charset="0"/>
              <a:cs typeface="Times New Roman" panose="02020603050405020304" pitchFamily="18" charset="0"/>
            </a:endParaRPr>
          </a:p>
          <a:p>
            <a:pPr algn="just"/>
            <a:r>
              <a:rPr lang="en-US" sz="2600" dirty="0" smtClean="0">
                <a:latin typeface="Times New Roman" panose="02020603050405020304" pitchFamily="18" charset="0"/>
                <a:cs typeface="Times New Roman" panose="02020603050405020304" pitchFamily="18" charset="0"/>
              </a:rPr>
              <a:t>Expenses that management can choose to incur or not incur in a given period, without significantly impacting the company’s core operations or profitability in the short term.</a:t>
            </a:r>
          </a:p>
          <a:p>
            <a:pPr algn="just"/>
            <a:endParaRPr lang="en-US" sz="2600" dirty="0" smtClean="0">
              <a:latin typeface="Times New Roman" panose="02020603050405020304" pitchFamily="18" charset="0"/>
              <a:cs typeface="Times New Roman" panose="02020603050405020304" pitchFamily="18" charset="0"/>
            </a:endParaRPr>
          </a:p>
          <a:p>
            <a:pPr algn="just"/>
            <a:r>
              <a:rPr lang="en-US" sz="2600" dirty="0" smtClean="0">
                <a:latin typeface="Times New Roman" panose="02020603050405020304" pitchFamily="18" charset="0"/>
                <a:cs typeface="Times New Roman" panose="02020603050405020304" pitchFamily="18" charset="0"/>
              </a:rPr>
              <a:t>These are not related to the operations and can be controlled by the management. </a:t>
            </a:r>
          </a:p>
          <a:p>
            <a:pPr algn="just"/>
            <a:endParaRPr lang="en-US" sz="2600" dirty="0" smtClean="0">
              <a:latin typeface="Times New Roman" panose="02020603050405020304" pitchFamily="18" charset="0"/>
              <a:cs typeface="Times New Roman" panose="02020603050405020304" pitchFamily="18" charset="0"/>
            </a:endParaRPr>
          </a:p>
          <a:p>
            <a:pPr algn="just"/>
            <a:r>
              <a:rPr lang="en-US" sz="2600" dirty="0" smtClean="0">
                <a:latin typeface="Times New Roman" panose="02020603050405020304" pitchFamily="18" charset="0"/>
                <a:cs typeface="Times New Roman" panose="02020603050405020304" pitchFamily="18" charset="0"/>
              </a:rPr>
              <a:t>These costs result from special policy decisions, new researches etc., and can be eliminated or reduced to a desirable level at the discretion of the management.</a:t>
            </a:r>
          </a:p>
          <a:p>
            <a:pPr>
              <a:buNone/>
            </a:pPr>
            <a:endParaRPr lang="en-IN" sz="2600" dirty="0" smtClean="0"/>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750</TotalTime>
  <Words>1921</Words>
  <Application>Microsoft Office PowerPoint</Application>
  <PresentationFormat>On-screen Show (4:3)</PresentationFormat>
  <Paragraphs>121</Paragraphs>
  <Slides>18</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18</vt:i4>
      </vt:variant>
    </vt:vector>
  </HeadingPairs>
  <TitlesOfParts>
    <vt:vector size="22" baseType="lpstr">
      <vt:lpstr>Arial</vt:lpstr>
      <vt:lpstr>Calibri</vt:lpstr>
      <vt:lpstr>Times New Roman</vt:lpstr>
      <vt:lpstr>Office Theme</vt:lpstr>
      <vt:lpstr>Classification of cost</vt:lpstr>
      <vt:lpstr>Definitions</vt:lpstr>
      <vt:lpstr>PowerPoint Presentation</vt:lpstr>
      <vt:lpstr>PowerPoint Presentation</vt:lpstr>
      <vt:lpstr>Classification of costs</vt:lpstr>
      <vt:lpstr>PowerPoint Presentation</vt:lpstr>
      <vt:lpstr>Sunk cost</vt:lpstr>
      <vt:lpstr>Relevant cost</vt:lpstr>
      <vt:lpstr>Shut-down cost</vt:lpstr>
      <vt:lpstr>Out of pocket cost</vt:lpstr>
      <vt:lpstr>Opportunity cost</vt:lpstr>
      <vt:lpstr>Imputed cost</vt:lpstr>
      <vt:lpstr>Differential cost</vt:lpstr>
      <vt:lpstr>Marginal cost</vt:lpstr>
      <vt:lpstr>Replacement cost</vt:lpstr>
      <vt:lpstr>Conversion cost</vt:lpstr>
      <vt:lpstr>Committed cost</vt:lpstr>
      <vt:lpstr>Discretionary Costs</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Introduction to Management Accounting</dc:title>
  <dc:creator>hp</dc:creator>
  <cp:lastModifiedBy>ibs</cp:lastModifiedBy>
  <cp:revision>239</cp:revision>
  <dcterms:created xsi:type="dcterms:W3CDTF">2006-08-16T00:00:00Z</dcterms:created>
  <dcterms:modified xsi:type="dcterms:W3CDTF">2025-08-07T04:50:21Z</dcterms:modified>
</cp:coreProperties>
</file>